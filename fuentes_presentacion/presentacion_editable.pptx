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1b5514676bc4a82" /><Relationship Type="http://schemas.openxmlformats.org/officeDocument/2006/relationships/extended-properties" Target="/docProps/app.xml" Id="R0e47ed28c4144e5d" /><Relationship Type="http://schemas.openxmlformats.org/officeDocument/2006/relationships/officeDocument" Target="/ppt/presentation.xml" Id="R681d00880dff431a" /></Relationships>
</file>

<file path=ppt/presentation.xml><?xml version="1.0" encoding="utf-8"?>
<p:presentation xmlns:p="http://schemas.openxmlformats.org/presentationml/2006/main">
  <p:sldMasterIdLst>
    <p:sldMasterId xmlns:r="http://schemas.openxmlformats.org/officeDocument/2006/relationships" id="2147483648" r:id="R33b1a7c8ea944ea5"/>
  </p:sldMasterIdLst>
  <p:notesMasterIdLst>
    <p:notesMasterId xmlns:r="http://schemas.openxmlformats.org/officeDocument/2006/relationships" r:id="R03f060608e4f4b17"/>
  </p:notesMasterIdLst>
  <p:sldIdLst>
    <p:sldId xmlns:r="http://schemas.openxmlformats.org/officeDocument/2006/relationships" id="256" r:id="Rb40185750d7446e1"/>
    <p:sldId xmlns:r="http://schemas.openxmlformats.org/officeDocument/2006/relationships" id="257" r:id="R7750aed6b8684a7e"/>
    <p:sldId xmlns:r="http://schemas.openxmlformats.org/officeDocument/2006/relationships" id="258" r:id="R6b241f9301334ec2"/>
    <p:sldId xmlns:r="http://schemas.openxmlformats.org/officeDocument/2006/relationships" id="259" r:id="R29300fb610044578"/>
    <p:sldId xmlns:r="http://schemas.openxmlformats.org/officeDocument/2006/relationships" id="260" r:id="R2bbfc4705d244e40"/>
    <p:sldId xmlns:r="http://schemas.openxmlformats.org/officeDocument/2006/relationships" id="261" r:id="Rcbb472f109804979"/>
    <p:sldId xmlns:r="http://schemas.openxmlformats.org/officeDocument/2006/relationships" id="262" r:id="Rc4b4e4f517154562"/>
    <p:sldId xmlns:r="http://schemas.openxmlformats.org/officeDocument/2006/relationships" id="263" r:id="Ra8db3c489a52445c"/>
    <p:sldId xmlns:r="http://schemas.openxmlformats.org/officeDocument/2006/relationships" id="264" r:id="R99984deaa8344255"/>
    <p:sldId xmlns:r="http://schemas.openxmlformats.org/officeDocument/2006/relationships" id="265" r:id="R1ebf1777d1184906"/>
    <p:sldId xmlns:r="http://schemas.openxmlformats.org/officeDocument/2006/relationships" id="266" r:id="Rc373492a4f804434"/>
    <p:sldId xmlns:r="http://schemas.openxmlformats.org/officeDocument/2006/relationships" id="267" r:id="Rb19d7c2c787145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fbfb40262847e2" /><Relationship Type="http://schemas.openxmlformats.org/officeDocument/2006/relationships/slideMaster" Target="/ppt/slideMasters/slideMaster1.xml" Id="R33b1a7c8ea944ea5" /><Relationship Type="http://schemas.openxmlformats.org/officeDocument/2006/relationships/notesMaster" Target="/ppt/notesMasters/notesMaster1.xml" Id="R03f060608e4f4b17" /><Relationship Type="http://schemas.openxmlformats.org/officeDocument/2006/relationships/presProps" Target="/ppt/presProps.xml" Id="R2119d6dd35d44c90" /><Relationship Type="http://schemas.openxmlformats.org/officeDocument/2006/relationships/tableStyles" Target="/ppt/tableStyles.xml" Id="R19866eb776414d10" /><Relationship Type="http://schemas.openxmlformats.org/officeDocument/2006/relationships/slide" Target="/ppt/slides/slide1.xml" Id="Rb40185750d7446e1" /><Relationship Type="http://schemas.openxmlformats.org/officeDocument/2006/relationships/slide" Target="/ppt/slides/slide2.xml" Id="R7750aed6b8684a7e" /><Relationship Type="http://schemas.openxmlformats.org/officeDocument/2006/relationships/slide" Target="/ppt/slides/slide3.xml" Id="R6b241f9301334ec2" /><Relationship Type="http://schemas.openxmlformats.org/officeDocument/2006/relationships/slide" Target="/ppt/slides/slide4.xml" Id="R29300fb610044578" /><Relationship Type="http://schemas.openxmlformats.org/officeDocument/2006/relationships/slide" Target="/ppt/slides/slide5.xml" Id="R2bbfc4705d244e40" /><Relationship Type="http://schemas.openxmlformats.org/officeDocument/2006/relationships/slide" Target="/ppt/slides/slide6.xml" Id="Rcbb472f109804979" /><Relationship Type="http://schemas.openxmlformats.org/officeDocument/2006/relationships/slide" Target="/ppt/slides/slide7.xml" Id="Rc4b4e4f517154562" /><Relationship Type="http://schemas.openxmlformats.org/officeDocument/2006/relationships/slide" Target="/ppt/slides/slide8.xml" Id="Ra8db3c489a52445c" /><Relationship Type="http://schemas.openxmlformats.org/officeDocument/2006/relationships/slide" Target="/ppt/slides/slide9.xml" Id="R99984deaa8344255" /><Relationship Type="http://schemas.openxmlformats.org/officeDocument/2006/relationships/slide" Target="/ppt/slides/slide10.xml" Id="R1ebf1777d1184906" /><Relationship Type="http://schemas.openxmlformats.org/officeDocument/2006/relationships/slide" Target="/ppt/slides/slide11.xml" Id="Rc373492a4f804434" /><Relationship Type="http://schemas.openxmlformats.org/officeDocument/2006/relationships/slide" Target="/ppt/slides/slide12.xml" Id="Rb19d7c2c787145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178d56404a47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8cabeb64764845" /><Relationship Type="http://schemas.openxmlformats.org/officeDocument/2006/relationships/notesMaster" Target="/ppt/notesMasters/notesMaster1.xml" Id="Rbb5bfc4656fd4e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19653cb8fa4204" /><Relationship Type="http://schemas.openxmlformats.org/officeDocument/2006/relationships/notesMaster" Target="/ppt/notesMasters/notesMaster1.xml" Id="Rb13970f4ff7641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a5c6f5b9dc46eb" /><Relationship Type="http://schemas.openxmlformats.org/officeDocument/2006/relationships/notesMaster" Target="/ppt/notesMasters/notesMaster1.xml" Id="R28d04cf9f58948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3f5ad99acb495f" /><Relationship Type="http://schemas.openxmlformats.org/officeDocument/2006/relationships/notesMaster" Target="/ppt/notesMasters/notesMaster1.xml" Id="R8be7ec33772045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fc37a535754a77" /><Relationship Type="http://schemas.openxmlformats.org/officeDocument/2006/relationships/notesMaster" Target="/ppt/notesMasters/notesMaster1.xml" Id="Ra1b8d4369c8f4d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59850bfab8482f" /><Relationship Type="http://schemas.openxmlformats.org/officeDocument/2006/relationships/notesMaster" Target="/ppt/notesMasters/notesMaster1.xml" Id="Rdda85bde542446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1ae0a673654a8f" /><Relationship Type="http://schemas.openxmlformats.org/officeDocument/2006/relationships/notesMaster" Target="/ppt/notesMasters/notesMaster1.xml" Id="R708def50a83047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c1ec4cf9954ef9" /><Relationship Type="http://schemas.openxmlformats.org/officeDocument/2006/relationships/notesMaster" Target="/ppt/notesMasters/notesMaster1.xml" Id="Re388d196d0fc4cc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5db40ab86049d0" /><Relationship Type="http://schemas.openxmlformats.org/officeDocument/2006/relationships/notesMaster" Target="/ppt/notesMasters/notesMaster1.xml" Id="R2841f9cd74f84c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9859b43b524744" /><Relationship Type="http://schemas.openxmlformats.org/officeDocument/2006/relationships/notesMaster" Target="/ppt/notesMasters/notesMaster1.xml" Id="R46e7fadf43494f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2ebd382e4f4484" /><Relationship Type="http://schemas.openxmlformats.org/officeDocument/2006/relationships/notesMaster" Target="/ppt/notesMasters/notesMaster1.xml" Id="Rf27995c1c7ca4d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b03a13085d43bf" /><Relationship Type="http://schemas.openxmlformats.org/officeDocument/2006/relationships/notesMaster" Target="/ppt/notesMasters/notesMaster1.xml" Id="R9cfddcf45dfe4a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30 segundos.</a:t>
            </a:r>
          </a:p>
          <a:p xmlns:a="http://schemas.openxmlformats.org/drawingml/2006/main">
            <a:r>
              <a:t>La propuesta inicial es pedir 23.162 coches en A013. La incertidumbre obliga a revisar cada mes. El punto económico crítico es que CO2 y aranceles pueden convertir el crecimiento en pérdidas. Presento primero la demanda, después el plan físico y finalmente sus costes. El resultado financiero es contribución de marca, no beneficio contable.</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60 segundos.</a:t>
            </a:r>
          </a:p>
          <a:p xmlns:a="http://schemas.openxmlformats.org/drawingml/2006/main">
            <a:r>
              <a:t>Las matriculaciones pasan de 21.362 a 23.175: crecen 8,5%. Sin automatriculaciones, el crecimiento es 6,0%. Al neutralizar los sucesos y añadir 77 ventas censuradas estimadas, queda 2,7%. Esta tercera comparación es un contrafactual del modelo. Las ayudas y la caída posterior también se neutralizan, por lo que no todo el ajuste es adelanto de compras. El nuevo CSUV añade cinco meses de gama en A012.</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65 segundos.</a:t>
            </a:r>
          </a:p>
          <a:p xmlns:a="http://schemas.openxmlformats.org/drawingml/2006/main">
            <a:r>
              <a:t>Se ajusta mercado mensual para siete segmentos y tres canales. Usamos tendencia, estacionalidad, calendario y dos o tres variables económicas relevantes para cada canal, más sucesos. La demanda de Kaido es mercado por cuota neta. La cuota usa doce meses y una tendencia amortiguada. Los lanzamientos de abril son supuestos porque no hay fechas de producto. Los signos restringidos evitan interpretar correlaciones históricas absurdas como efectos económicos. Todas las variables futuras se publican en el ZIP.</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65 segundos.</a:t>
            </a:r>
          </a:p>
          <a:p xmlns:a="http://schemas.openxmlformats.org/drawingml/2006/main">
            <a:r>
              <a:t>El modelo se entrenó hasta A011. La prueba principal no conoce la macro ni los sucesos de A012. WAPE ponderado: 28,3% frente al 31,1% de repetir el año anterior. No mejora todos los segmentos. MD tiene un error del 95,2% y necesita revisión con pedidos reales. En CSUV el modelo preveía cero por falta de historial antes del lanzamiento. El 100% de error no debe ocultarse ni llamarse validación del nuevo producto. Hay una prueba condicional separada usando la macro observada.</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55 segundos.</a:t>
            </a:r>
          </a:p>
          <a:p xmlns:a="http://schemas.openxmlformats.org/drawingml/2006/main">
            <a:r>
              <a:t>El central conserva la situación económica de final de A012. El optimista baja paro y crédito, incluye ayudas y producto más fuerte. El pesimista alarga la caída, añade CO2 y arancel, retrasa el lanzamiento CSUV y elimina su producción de mayo. El combustible no está en los datos: se representa mediante un multiplicador supuesto. No asignamos probabilidades a estas historias. Dentro de cada una se simulan mil años con errores correlacionados.</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70 segundos.</a:t>
            </a:r>
          </a:p>
          <a:p xmlns:a="http://schemas.openxmlformats.org/drawingml/2006/main">
            <a:r>
              <a:t>La tabla muestra pedidos a fábrica de cada mes, no llegadas ni matriculaciones. Enero llega en abril. El tránsito estimado de enero y febrero suma 4.313 coches. Marzo se fija a cierre de A012. Hay cero pedidos iniciales en compacto y SUV compacto para absorber existencias. Octubre a diciembre abastecen A014 con una continuación técnica de demanda. El plan inicial es la trayectoria sin ruido: la media de fabricación de las simulaciones cambia con las revisiones.</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65 segundos.</a:t>
            </a:r>
          </a:p>
          <a:p xmlns:a="http://schemas.openxmlformats.org/drawingml/2006/main">
            <a:r>
              <a:t>Con tres meses de espera no basta mirar el stock físico de hoy. Se suma el tránsito y se resta la demanda hasta el último mes fijo. El pedido cubre el mes modificable y el colchón. Ajustamos el colchón por correlación temporal del error. B no tiene colchón porque 125 euros de contribución joven no cubren tres meses de stock. Un exceso de 150 SUV medios durante un mes cuesta 9.000 euros, frente a 233.460 de transfer o 857.100 de oportunidad perdida usando el CVP histórico.</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70 segundos.</a:t>
            </a:r>
          </a:p>
          <a:p xmlns:a="http://schemas.openxmlformats.org/drawingml/2006/main">
            <a:r>
              <a:t>La Tabla 5 usa el mismo arranque y una regla común de revisión según demanda. El CVP neto central es 79,88 millones, el optimista 102,81 y el pesimista menos 5,88. El pesimista añade 57,83 millones de CO2 y 13,32 de arancel. No hay transfers rentables en ese escenario. El optimista tiene más ventas perdidas por el desfase de tres meses. Las pérdidas de venta son coste de oportunidad separado, no otro descuento al CVP. El stock medio considera entradas al inicio y venta a mitad de mes.</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60 segundos.</a:t>
            </a:r>
          </a:p>
          <a:p xmlns:a="http://schemas.openxmlformats.org/drawingml/2006/main">
            <a:r>
              <a:t>SUV medio y SUV compacto son la prioridad comercial. El compacto tiene exceso inicial y margen menor. El pequeño se limita a demanda confirmada y sin stock especulativo. Con el cargo de CO2 y arancel, B, C, SSUV y S pasan a pérdida. Recomiendo suspender nuevos pedidos deficitarios cuando se confirme ese cambio de costes, siempre respetando el tránsito. Esta medida de crisis es adicional y su mejora no está incluida en los resultados de la Tabla 5. El objetivo es evitar empujar volumen que destruya margen.</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60 segundos.</a:t>
            </a:r>
          </a:p>
          <a:p xmlns:a="http://schemas.openxmlformats.org/drawingml/2006/main">
            <a:r>
              <a:t>Solicito aprobar el plan inicial sujeto a revisión cada mes. Confirmar primero el tránsito real y las fechas de producto, porque son supuestos determinantes. Registrar también demanda no servida para que las roturas no hagan caer la previsión artificialmente. Recalcular cuando el error supere 15% durante dos meses o cuando más del 20% del stock tenga más de 90 días. Vigilar CO2 y arancel para activar el veto comercial. El intervalo central refleja ruido del modelo y no incluye toda la incertidumbre de parámetros. El ZIP contiene datos, código, resultados, pruebas y guía de reproducción.</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Medias de demanda potencial, antes de pérdidas por falta de producto. Cada celda recoge media y percentiles 5-95. Los intervalos no son probabilidades de escenario y no incluyen incertidumbre de parámetros.</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pruebas usan la misma semilla y el escenario central. El tránsito no se observa, por eso se varía 25%. También se elimina transfer y se cambia el colchón 25%. Son pruebas de robustez, no una búsqueda exhaustiva de un óptimo.</a:t>
            </a:r>
          </a:p>
          <a:p xmlns:a="http://schemas.openxmlformats.org/drawingml/2006/main">
            <a:r>
              <a:t>Fuente: https://github.com/UAX-VCMT-26-27/sim-kaido-motors, enunciado secciones 7 y 9, siete CSV. Resultados propios en resultados/.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624084ee7a4c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1b6e0009664e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7333d1cb5d64c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7c5f266f6a4c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4714d5010340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c10661ccec41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073136-5962-4E84-8780-45F646ABD44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4E28B51-D264-4E1F-AD84-FC99910B1C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9C68FB-5005-4526-AD95-7BC53CC251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10BF57-9720-46F0-BE3B-61185D233A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B8D299B-4463-4167-9F48-11D11AB4F2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0401DD-6895-48C2-B43C-F1F2030AA3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EA9DE8-6AF8-486B-9A07-0ADAD35118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6C7283-A91B-43FD-A53E-28D2AA087E4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DC4F5B-908F-432A-9515-3E9D4902AD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596F89-CF52-47A0-9FE3-30854B3B1E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fde48f1f9e4b3e" /><Relationship Type="http://schemas.openxmlformats.org/officeDocument/2006/relationships/slideLayout" Target="/ppt/slideLayouts/slideLayout1.xml" Id="R6793ddae3fcd48ff" /><Relationship Type="http://schemas.openxmlformats.org/officeDocument/2006/relationships/slideLayout" Target="/ppt/slideLayouts/slideLayout2.xml" Id="Ref3817a9b79346c3" /><Relationship Type="http://schemas.openxmlformats.org/officeDocument/2006/relationships/slideLayout" Target="/ppt/slideLayouts/slideLayout3.xml" Id="R09bd2c36f7994961" /><Relationship Type="http://schemas.openxmlformats.org/officeDocument/2006/relationships/slideLayout" Target="/ppt/slideLayouts/slideLayout4.xml" Id="R0c941fb5af594357" /><Relationship Type="http://schemas.openxmlformats.org/officeDocument/2006/relationships/slideLayout" Target="/ppt/slideLayouts/slideLayout5.xml" Id="R05780814443541de" /><Relationship Type="http://schemas.openxmlformats.org/officeDocument/2006/relationships/slideLayout" Target="/ppt/slideLayouts/slideLayout6.xml" Id="Ref3c48ff71c84b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93ddae3fcd48ff"/>
    <p:sldLayoutId xmlns:r="http://schemas.openxmlformats.org/officeDocument/2006/relationships" id="2147483650" r:id="Ref3817a9b79346c3"/>
    <p:sldLayoutId xmlns:r="http://schemas.openxmlformats.org/officeDocument/2006/relationships" id="2147483651" r:id="R09bd2c36f7994961"/>
    <p:sldLayoutId xmlns:r="http://schemas.openxmlformats.org/officeDocument/2006/relationships" id="2147483652" r:id="R0c941fb5af594357"/>
    <p:sldLayoutId xmlns:r="http://schemas.openxmlformats.org/officeDocument/2006/relationships" id="2147483653" r:id="R05780814443541de"/>
    <p:sldLayoutId xmlns:r="http://schemas.openxmlformats.org/officeDocument/2006/relationships" id="2147483654" r:id="Ref3c48ff71c84b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ccdfa0db4374313" /><Relationship Type="http://schemas.openxmlformats.org/officeDocument/2006/relationships/notesSlide" Target="/ppt/notesSlides/notesSlide1.xml" Id="Rd0aab207ca0c49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1762c71c944fb4" /><Relationship Type="http://schemas.openxmlformats.org/officeDocument/2006/relationships/chart" Target="/ppt/slides/charts/chart1.xml" Id="R0be433b91eec4037" /><Relationship Type="http://schemas.openxmlformats.org/officeDocument/2006/relationships/notesSlide" Target="/ppt/notesSlides/notesSlide2.xml" Id="R751efd62840c4d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383ba5a8d0a4ae7" /><Relationship Type="http://schemas.openxmlformats.org/officeDocument/2006/relationships/notesSlide" Target="/ppt/notesSlides/notesSlide3.xml" Id="Rf586042fb00b4b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f5bcd5bdd24cd1" /><Relationship Type="http://schemas.openxmlformats.org/officeDocument/2006/relationships/notesSlide" Target="/ppt/notesSlides/notesSlide4.xml" Id="Re18f7bc84bca46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72b5f91939402d" /><Relationship Type="http://schemas.openxmlformats.org/officeDocument/2006/relationships/notesSlide" Target="/ppt/notesSlides/notesSlide5.xml" Id="Rf91ab4f72baa4d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03fa41a65d54349" /><Relationship Type="http://schemas.openxmlformats.org/officeDocument/2006/relationships/notesSlide" Target="/ppt/notesSlides/notesSlide6.xml" Id="Rc35f395abaef42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e162aefa514424b" /><Relationship Type="http://schemas.openxmlformats.org/officeDocument/2006/relationships/notesSlide" Target="/ppt/notesSlides/notesSlide7.xml" Id="Rbd0733213def4f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f4b36d4ea14c36" /><Relationship Type="http://schemas.openxmlformats.org/officeDocument/2006/relationships/notesSlide" Target="/ppt/notesSlides/notesSlide8.xml" Id="R2d69e87c5cdb42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38fdf3c34f544d3" /><Relationship Type="http://schemas.openxmlformats.org/officeDocument/2006/relationships/notesSlide" Target="/ppt/notesSlides/notesSlide9.xml" Id="R85e4266b437c4e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e0577d1d1204c40" /><Relationship Type="http://schemas.openxmlformats.org/officeDocument/2006/relationships/notesSlide" Target="/ppt/notesSlides/notesSlide10.xml" Id="R9eb1c6e63d434d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9f8365abcf94e72" /><Relationship Type="http://schemas.openxmlformats.org/officeDocument/2006/relationships/notesSlide" Target="/ppt/notesSlides/notesSlide11.xml" Id="Rd5ed47748b6547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e74d7f243c4637" /><Relationship Type="http://schemas.openxmlformats.org/officeDocument/2006/relationships/notesSlide" Target="/ppt/notesSlides/notesSlide12.xml" Id="R7f4cb79935c149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A011</c:v>
          </c:tx>
          <c:spPr>
            <a:solidFill xmlns:a="http://schemas.openxmlformats.org/drawingml/2006/main">
              <a:srgbClr val="93AAB4"/>
            </a:solidFill>
          </c:spPr>
          <c:cat>
            <c:strRef>
              <c:f>'Chart Data'!$A$2:$A$4</c:f>
              <c:strCache>
                <c:ptCount val="3"/>
                <c:pt idx="0">
                  <c:v>Matriculaciones</c:v>
                </c:pt>
                <c:pt idx="1">
                  <c:v>Sin automatriculación</c:v>
                </c:pt>
                <c:pt idx="2">
                  <c:v>Demanda ajustada</c:v>
                </c:pt>
              </c:strCache>
            </c:strRef>
          </c:cat>
          <c:val>
            <c:numRef>
              <c:f>'Chart Data'!$B$2:$B$4</c:f>
              <c:numCache>
                <c:formatCode>#,##0</c:formatCode>
                <c:ptCount val="3"/>
                <c:pt idx="0">
                  <c:v>21362</c:v>
                </c:pt>
                <c:pt idx="1">
                  <c:v>19543</c:v>
                </c:pt>
                <c:pt idx="2">
                  <c:v>19703.6235</c:v>
                </c:pt>
              </c:numCache>
            </c:numRef>
          </c:val>
        </c:ser>
        <c:ser>
          <c:idx val="1"/>
          <c:order val="1"/>
          <c:tx>
            <c:v>A012</c:v>
          </c:tx>
          <c:spPr>
            <a:solidFill xmlns:a="http://schemas.openxmlformats.org/drawingml/2006/main">
              <a:srgbClr val="007F83"/>
            </a:solidFill>
          </c:spPr>
          <c:cat>
            <c:strRef>
              <c:f>'Chart Data'!$C$2:$C$4</c:f>
              <c:strCache>
                <c:ptCount val="3"/>
                <c:pt idx="0">
                  <c:v>Matriculaciones</c:v>
                </c:pt>
                <c:pt idx="1">
                  <c:v>Sin automatriculación</c:v>
                </c:pt>
                <c:pt idx="2">
                  <c:v>Demanda ajustada</c:v>
                </c:pt>
              </c:strCache>
            </c:strRef>
          </c:cat>
          <c:val>
            <c:numRef>
              <c:f>'Chart Data'!$D$2:$D$4</c:f>
              <c:numCache>
                <c:formatCode>#,##0</c:formatCode>
                <c:ptCount val="3"/>
                <c:pt idx="0">
                  <c:v>23175</c:v>
                </c:pt>
                <c:pt idx="1">
                  <c:v>20706</c:v>
                </c:pt>
                <c:pt idx="2">
                  <c:v>20243.4801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7E3E7"/>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CF6E55-C31F-40E6-9572-04E6A049C665}"/>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Kaido Motors España</a:t>
            </a:r>
          </a:p>
        </p:txBody>
      </p:sp>
      <p:sp>
        <p:nvSpPr>
          <p:cNvPr id="2" name="">
            <a:extLst xmlns:a="http://schemas.openxmlformats.org/drawingml/2006/main">
              <a:ext uri="{FF2B5EF4-FFF2-40B4-BE49-F238E27FC236}">
                <a16:creationId xmlns:a16="http://schemas.microsoft.com/office/drawing/2014/main" id="{4E2096B9-CE90-47B1-A21C-2DA48430D86A}"/>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7B5F1B79-D267-4074-AB3D-D21D05EACA72}"/>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AB737DCE-A43C-4CCD-815F-8EEC6A8D145D}"/>
              </a:ext>
            </a:extLst>
          </p:cNvPr>
          <p:cNvSpPr>
            <a:spLocks xmlns:a="http://schemas.openxmlformats.org/drawingml/2006/main" noGrp="1"/>
          </p:cNvSpPr>
          <p:nvPr/>
        </p:nvSpPr>
        <p:spPr>
          <a:xfrm xmlns:a="http://schemas.openxmlformats.org/drawingml/2006/main">
            <a:off x="552450" y="2095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75" b="1">
                <a:solidFill>
                  <a:srgbClr val="102C3D"/>
                </a:solidFill>
                <a:latin typeface="Arial"/>
                <a:ea typeface="Arial"/>
                <a:cs typeface="Arial"/>
              </a:defRPr>
            </a:defPPr>
          </a:lstStyle>
          <a:p xmlns:a="http://schemas.openxmlformats.org/drawingml/2006/main">
            <a:pPr>
              <a:defRPr sz="4575" b="1">
                <a:solidFill>
                  <a:srgbClr val="102C3D"/>
                </a:solidFill>
                <a:latin typeface="Arial"/>
                <a:ea typeface="Arial"/>
                <a:cs typeface="Arial"/>
              </a:defRPr>
            </a:pPr>
            <a:r>
              <a:rPr sz="4575" b="1">
                <a:solidFill>
                  <a:srgbClr val="102C3D"/>
                </a:solidFill>
                <a:latin typeface="Arial"/>
                <a:ea typeface="Arial"/>
                <a:cs typeface="Arial"/>
              </a:rPr>
              <a:t>Plan de producción A013</a:t>
            </a:r>
          </a:p>
        </p:txBody>
      </p:sp>
      <p:sp>
        <p:nvSpPr>
          <p:cNvPr id="5" name="">
            <a:extLst xmlns:a="http://schemas.openxmlformats.org/drawingml/2006/main">
              <a:ext uri="{FF2B5EF4-FFF2-40B4-BE49-F238E27FC236}">
                <a16:creationId xmlns:a16="http://schemas.microsoft.com/office/drawing/2014/main" id="{E322402B-655B-450B-8B77-23E60530D238}"/>
              </a:ext>
            </a:extLst>
          </p:cNvPr>
          <p:cNvSpPr>
            <a:spLocks xmlns:a="http://schemas.openxmlformats.org/drawingml/2006/main" noGrp="1"/>
          </p:cNvSpPr>
          <p:nvPr/>
        </p:nvSpPr>
        <p:spPr>
          <a:xfrm xmlns:a="http://schemas.openxmlformats.org/drawingml/2006/main">
            <a:off x="552450" y="33813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007F83"/>
                </a:solidFill>
                <a:latin typeface="Arial"/>
                <a:ea typeface="Arial"/>
                <a:cs typeface="Arial"/>
              </a:defRPr>
            </a:defPPr>
          </a:lstStyle>
          <a:p xmlns:a="http://schemas.openxmlformats.org/drawingml/2006/main">
            <a:pPr>
              <a:defRPr sz="4950" b="1">
                <a:solidFill>
                  <a:srgbClr val="007F83"/>
                </a:solidFill>
                <a:latin typeface="Arial"/>
                <a:ea typeface="Arial"/>
                <a:cs typeface="Arial"/>
              </a:defRPr>
            </a:pPr>
            <a:r>
              <a:rPr sz="4950" b="1">
                <a:solidFill>
                  <a:srgbClr val="007F83"/>
                </a:solidFill>
                <a:latin typeface="Arial"/>
                <a:ea typeface="Arial"/>
                <a:cs typeface="Arial"/>
              </a:rPr>
              <a:t>23.162 coches</a:t>
            </a:r>
          </a:p>
        </p:txBody>
      </p:sp>
      <p:sp>
        <p:nvSpPr>
          <p:cNvPr id="6" name="">
            <a:extLst xmlns:a="http://schemas.openxmlformats.org/drawingml/2006/main">
              <a:ext uri="{FF2B5EF4-FFF2-40B4-BE49-F238E27FC236}">
                <a16:creationId xmlns:a16="http://schemas.microsoft.com/office/drawing/2014/main" id="{4221DA28-D190-42F3-A11D-9206BA6AFADD}"/>
              </a:ext>
            </a:extLst>
          </p:cNvPr>
          <p:cNvSpPr>
            <a:spLocks xmlns:a="http://schemas.openxmlformats.org/drawingml/2006/main" noGrp="1"/>
          </p:cNvSpPr>
          <p:nvPr/>
        </p:nvSpPr>
        <p:spPr>
          <a:xfrm xmlns:a="http://schemas.openxmlformats.org/drawingml/2006/main">
            <a:off x="552450" y="4667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674"/>
                </a:solidFill>
                <a:latin typeface="Arial"/>
                <a:ea typeface="Arial"/>
                <a:cs typeface="Arial"/>
              </a:defRPr>
            </a:defPPr>
          </a:lstStyle>
          <a:p xmlns:a="http://schemas.openxmlformats.org/drawingml/2006/main">
            <a:pPr>
              <a:defRPr sz="2175" b="0">
                <a:solidFill>
                  <a:srgbClr val="526674"/>
                </a:solidFill>
                <a:latin typeface="Arial"/>
                <a:ea typeface="Arial"/>
                <a:cs typeface="Arial"/>
              </a:defRPr>
            </a:pPr>
            <a:r>
              <a:rPr sz="2175" b="0">
                <a:solidFill>
                  <a:srgbClr val="526674"/>
                </a:solidFill>
                <a:latin typeface="Arial"/>
                <a:ea typeface="Arial"/>
                <a:cs typeface="Arial"/>
              </a:rPr>
              <a:t>Demanda mensual, inventario y contribución de la marca</a:t>
            </a:r>
          </a:p>
        </p:txBody>
      </p:sp>
    </p:spTree>
    <p:extLst>
      <p:ext uri="{BB962C8B-B14F-4D97-AF65-F5344CB8AC3E}">
        <p14:creationId xmlns:p14="http://schemas.microsoft.com/office/powerpoint/2010/main" val="19539397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8E8C3F-04CD-407F-A981-1644FE3186EA}"/>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El crecimiento observado sobrestima la demanda de fondo</a:t>
            </a:r>
          </a:p>
        </p:txBody>
      </p:sp>
      <p:sp>
        <p:nvSpPr>
          <p:cNvPr id="2" name="">
            <a:extLst xmlns:a="http://schemas.openxmlformats.org/drawingml/2006/main">
              <a:ext uri="{FF2B5EF4-FFF2-40B4-BE49-F238E27FC236}">
                <a16:creationId xmlns:a16="http://schemas.microsoft.com/office/drawing/2014/main" id="{B3236528-1A07-454E-B60C-63F5E38C2961}"/>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AEDFD44F-0FBE-43F1-81EF-1ACAB88D27FC}"/>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2</a:t>
            </a:r>
          </a:p>
        </p:txBody>
      </p:sp>
      <p:graphicFrame>
        <p:nvGraphicFramePr>
          <p:cNvPr id="4" name="Chart">
            <a:extLst xmlns:a="http://schemas.openxmlformats.org/drawingml/2006/main">
              <a:ext uri="{FF2B5EF4-FFF2-40B4-BE49-F238E27FC236}">
                <a16:creationId xmlns:a16="http://schemas.microsoft.com/office/drawing/2014/main" id="{9ACA9CE3-16EA-4CE2-8796-253E170E7466}"/>
              </a:ext>
            </a:extLst>
          </p:cNvPr>
          <p:cNvGraphicFramePr/>
          <p:nvPr/>
        </p:nvGraphicFramePr>
        <p:xfrm>
          <a:off xmlns:a="http://schemas.openxmlformats.org/drawingml/2006/main" x="571500" y="1714500"/>
          <a:ext xmlns:a="http://schemas.openxmlformats.org/drawingml/2006/main" cx="10763250" cy="3714750"/>
        </p:xfrm>
        <a:graphic xmlns:a="http://schemas.openxmlformats.org/drawingml/2006/main">
          <a:graphicData uri="http://schemas.openxmlformats.org/drawingml/2006/chart">
            <c:chart xmlns:r="http://schemas.openxmlformats.org/officeDocument/2006/relationships" xmlns:c="http://schemas.openxmlformats.org/drawingml/2006/chart" r:id="R0be433b91eec4037"/>
          </a:graphicData>
        </a:graphic>
      </p:graphicFrame>
      <p:sp>
        <p:nvSpPr>
          <p:cNvPr id="5" name="">
            <a:extLst xmlns:a="http://schemas.openxmlformats.org/drawingml/2006/main">
              <a:ext uri="{FF2B5EF4-FFF2-40B4-BE49-F238E27FC236}">
                <a16:creationId xmlns:a16="http://schemas.microsoft.com/office/drawing/2014/main" id="{E9940A86-E1F0-4E09-91D0-E07C192BEEC4}"/>
              </a:ext>
            </a:extLst>
          </p:cNvPr>
          <p:cNvSpPr>
            <a:spLocks xmlns:a="http://schemas.openxmlformats.org/drawingml/2006/main" noGrp="1"/>
          </p:cNvSpPr>
          <p:nvPr/>
        </p:nvSpPr>
        <p:spPr>
          <a:xfrm xmlns:a="http://schemas.openxmlformats.org/drawingml/2006/main">
            <a:off x="552450" y="5810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4"/>
                </a:solidFill>
                <a:latin typeface="Arial"/>
                <a:ea typeface="Arial"/>
                <a:cs typeface="Arial"/>
              </a:defRPr>
            </a:defPPr>
          </a:lstStyle>
          <a:p xmlns:a="http://schemas.openxmlformats.org/drawingml/2006/main">
            <a:pPr>
              <a:defRPr sz="1800" b="0">
                <a:solidFill>
                  <a:srgbClr val="526674"/>
                </a:solidFill>
                <a:latin typeface="Arial"/>
                <a:ea typeface="Arial"/>
                <a:cs typeface="Arial"/>
              </a:defRPr>
            </a:pPr>
            <a:r>
              <a:rPr sz="1800" b="0">
                <a:solidFill>
                  <a:srgbClr val="526674"/>
                </a:solidFill>
                <a:latin typeface="Arial"/>
                <a:ea typeface="Arial"/>
                <a:cs typeface="Arial"/>
              </a:rPr>
              <a:t>Ajustado: +2,7%. Estimación sensible a la corrección de sucesos y faltas de stock.</a:t>
            </a:r>
          </a:p>
        </p:txBody>
      </p:sp>
    </p:spTree>
    <p:extLst>
      <p:ext uri="{BB962C8B-B14F-4D97-AF65-F5344CB8AC3E}">
        <p14:creationId xmlns:p14="http://schemas.microsoft.com/office/powerpoint/2010/main" val="15611242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86C212-E03D-4C47-B3BC-342BF17DBF29}"/>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El modelo separa mercado y cuota de Kaido</a:t>
            </a:r>
          </a:p>
        </p:txBody>
      </p:sp>
      <p:sp>
        <p:nvSpPr>
          <p:cNvPr id="2" name="">
            <a:extLst xmlns:a="http://schemas.openxmlformats.org/drawingml/2006/main">
              <a:ext uri="{FF2B5EF4-FFF2-40B4-BE49-F238E27FC236}">
                <a16:creationId xmlns:a16="http://schemas.microsoft.com/office/drawing/2014/main" id="{89E7C876-314F-4D4E-B0FA-63871CBBB7BE}"/>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306E76AA-82B0-4492-8564-02C9079C0D3E}"/>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345EC140-A5FF-4018-AC7C-31CBE2090246}"/>
              </a:ext>
            </a:extLst>
          </p:cNvPr>
          <p:cNvSpPr>
            <a:spLocks xmlns:a="http://schemas.openxmlformats.org/drawingml/2006/main" noGrp="1"/>
          </p:cNvSpPr>
          <p:nvPr/>
        </p:nvSpPr>
        <p:spPr>
          <a:xfrm xmlns:a="http://schemas.openxmlformats.org/drawingml/2006/main">
            <a:off x="552450" y="16383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7F83"/>
                </a:solidFill>
                <a:latin typeface="Arial"/>
                <a:ea typeface="Arial"/>
                <a:cs typeface="Arial"/>
              </a:defRPr>
            </a:defPPr>
          </a:lstStyle>
          <a:p xmlns:a="http://schemas.openxmlformats.org/drawingml/2006/main">
            <a:pPr>
              <a:defRPr sz="2475" b="1">
                <a:solidFill>
                  <a:srgbClr val="007F83"/>
                </a:solidFill>
                <a:latin typeface="Arial"/>
                <a:ea typeface="Arial"/>
                <a:cs typeface="Arial"/>
              </a:defRPr>
            </a:pPr>
            <a:r>
              <a:rPr sz="2475" b="1">
                <a:solidFill>
                  <a:srgbClr val="007F83"/>
                </a:solidFill>
                <a:latin typeface="Arial"/>
                <a:ea typeface="Arial"/>
                <a:cs typeface="Arial"/>
              </a:rPr>
              <a:t>Demanda de Kaido = mercado del segmento × cuota neta</a:t>
            </a:r>
          </a:p>
        </p:txBody>
      </p:sp>
      <p:graphicFrame>
        <p:nvGraphicFramePr>
          <p:cNvPr id="5" name="">
            <a:extLst xmlns:a="http://schemas.openxmlformats.org/drawingml/2006/main">
              <a:ext uri="{FF2B5EF4-FFF2-40B4-BE49-F238E27FC236}">
                <a16:creationId xmlns:a16="http://schemas.microsoft.com/office/drawing/2014/main" id="{908ABB9E-04CA-46A3-9ABF-D2267763EC19}"/>
              </a:ext>
            </a:extLst>
          </p:cNvPr>
          <p:cNvGraphicFramePr/>
          <p:nvPr/>
        </p:nvGraphicFramePr>
        <p:xfrm>
          <a:off xmlns:a="http://schemas.openxmlformats.org/drawingml/2006/main" x="552450" y="2495550"/>
          <a:ext xmlns:a="http://schemas.openxmlformats.org/drawingml/2006/main" cx="11087100" cy="2619375"/>
        </p:xfrm>
        <a:graphic xmlns:a="http://schemas.openxmlformats.org/drawingml/2006/main">
          <a:graphicData uri="http://schemas.openxmlformats.org/drawingml/2006/table">
            <a:tbl>
              <a:tblPr/>
              <a:tblGrid>
                <a:gridCol w="2714625"/>
                <a:gridCol w="8372475"/>
              </a:tblGrid>
              <a:tr h="523875">
                <a:tc>
                  <a:txBody>
                    <a:bodyPr/>
                    <a:lstStyle/>
                    <a:p>
                      <a:r>
                        <a:rPr sz="1875" b="1">
                          <a:solidFill>
                            <a:srgbClr val="FFFFFF"/>
                          </a:solidFill>
                          <a:latin typeface="Arial"/>
                          <a:ea typeface="Arial"/>
                          <a:cs typeface="Arial"/>
                        </a:rPr>
                        <a:t>Componente</a:t>
                      </a:r>
                    </a:p>
                  </a:txBody>
                  <a:tcPr marL="85725" marR="85725" marT="28575" marB="28575" anchor="ctr">
                    <a:solidFill>
                      <a:srgbClr val="102C3D"/>
                    </a:solidFill>
                  </a:tcPr>
                </a:tc>
                <a:tc>
                  <a:txBody>
                    <a:bodyPr/>
                    <a:lstStyle/>
                    <a:p>
                      <a:r>
                        <a:rPr sz="1875" b="1">
                          <a:solidFill>
                            <a:srgbClr val="FFFFFF"/>
                          </a:solidFill>
                          <a:latin typeface="Arial"/>
                          <a:ea typeface="Arial"/>
                          <a:cs typeface="Arial"/>
                        </a:rPr>
                        <a:t>Tratamiento</a:t>
                      </a:r>
                    </a:p>
                  </a:txBody>
                  <a:tcPr marL="85725" marR="85725" marT="28575" marB="28575" anchor="ctr">
                    <a:solidFill>
                      <a:srgbClr val="102C3D"/>
                    </a:solidFill>
                  </a:tcPr>
                </a:tc>
              </a:tr>
              <a:tr h="523875">
                <a:tc>
                  <a:txBody>
                    <a:bodyPr/>
                    <a:lstStyle/>
                    <a:p>
                      <a:r>
                        <a:rPr sz="1875" b="0">
                          <a:solidFill>
                            <a:srgbClr val="102C3D"/>
                          </a:solidFill>
                          <a:latin typeface="Arial"/>
                          <a:ea typeface="Arial"/>
                          <a:cs typeface="Arial"/>
                        </a:rPr>
                        <a:t>Mercado</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Regresión mensual por segmento y canal</a:t>
                      </a:r>
                    </a:p>
                  </a:txBody>
                  <a:tcPr marL="85725" marR="85725" marT="28575" marB="28575" anchor="ctr">
                    <a:solidFill>
                      <a:srgbClr val="FFFFFF"/>
                    </a:solidFill>
                  </a:tcPr>
                </a:tc>
              </a:tr>
              <a:tr h="523875">
                <a:tc>
                  <a:txBody>
                    <a:bodyPr/>
                    <a:lstStyle/>
                    <a:p>
                      <a:r>
                        <a:rPr sz="1875" b="0">
                          <a:solidFill>
                            <a:srgbClr val="102C3D"/>
                          </a:solidFill>
                          <a:latin typeface="Arial"/>
                          <a:ea typeface="Arial"/>
                          <a:cs typeface="Arial"/>
                        </a:rPr>
                        <a:t>Economía</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Paro y variables específicas de cada canal</a:t>
                      </a:r>
                    </a:p>
                  </a:txBody>
                  <a:tcPr marL="85725" marR="85725" marT="28575" marB="28575" anchor="ctr">
                    <a:solidFill>
                      <a:srgbClr val="EAF2F3"/>
                    </a:solidFill>
                  </a:tcPr>
                </a:tc>
              </a:tr>
              <a:tr h="523875">
                <a:tc>
                  <a:txBody>
                    <a:bodyPr/>
                    <a:lstStyle/>
                    <a:p>
                      <a:r>
                        <a:rPr sz="1875" b="0">
                          <a:solidFill>
                            <a:srgbClr val="102C3D"/>
                          </a:solidFill>
                          <a:latin typeface="Arial"/>
                          <a:ea typeface="Arial"/>
                          <a:cs typeface="Arial"/>
                        </a:rPr>
                        <a:t>Calendario</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Mes, días laborables y Semana Santa del CSV</a:t>
                      </a:r>
                    </a:p>
                  </a:txBody>
                  <a:tcPr marL="85725" marR="85725" marT="28575" marB="28575" anchor="ctr">
                    <a:solidFill>
                      <a:srgbClr val="FFFFFF"/>
                    </a:solidFill>
                  </a:tcPr>
                </a:tc>
              </a:tr>
              <a:tr h="523875">
                <a:tc>
                  <a:txBody>
                    <a:bodyPr/>
                    <a:lstStyle/>
                    <a:p>
                      <a:r>
                        <a:rPr sz="1875" b="0">
                          <a:solidFill>
                            <a:srgbClr val="102C3D"/>
                          </a:solidFill>
                          <a:latin typeface="Arial"/>
                          <a:ea typeface="Arial"/>
                          <a:cs typeface="Arial"/>
                        </a:rPr>
                        <a:t>Cuota y producto</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Cuota reciente, tendencia amortiguada y códigos nuevos</a:t>
                      </a:r>
                    </a:p>
                  </a:txBody>
                  <a:tcPr marL="85725" marR="85725" marT="28575" marB="28575" anchor="ctr">
                    <a:solidFill>
                      <a:srgbClr val="EAF2F3"/>
                    </a:solidFill>
                  </a:tcPr>
                </a:tc>
              </a:tr>
            </a:tbl>
          </a:graphicData>
        </a:graphic>
      </p:graphicFrame>
      <p:sp>
        <p:nvSpPr>
          <p:cNvPr id="6" name="">
            <a:extLst xmlns:a="http://schemas.openxmlformats.org/drawingml/2006/main">
              <a:ext uri="{FF2B5EF4-FFF2-40B4-BE49-F238E27FC236}">
                <a16:creationId xmlns:a16="http://schemas.microsoft.com/office/drawing/2014/main" id="{680DF34A-A694-4453-A0B0-CC40AFFB906D}"/>
              </a:ext>
            </a:extLst>
          </p:cNvPr>
          <p:cNvSpPr>
            <a:spLocks xmlns:a="http://schemas.openxmlformats.org/drawingml/2006/main" noGrp="1"/>
          </p:cNvSpPr>
          <p:nvPr/>
        </p:nvSpPr>
        <p:spPr>
          <a:xfrm xmlns:a="http://schemas.openxmlformats.org/drawingml/2006/main">
            <a:off x="552450" y="55816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4"/>
                </a:solidFill>
                <a:latin typeface="Arial"/>
                <a:ea typeface="Arial"/>
                <a:cs typeface="Arial"/>
              </a:defRPr>
            </a:defPPr>
          </a:lstStyle>
          <a:p xmlns:a="http://schemas.openxmlformats.org/drawingml/2006/main">
            <a:pPr>
              <a:defRPr sz="1800" b="0">
                <a:solidFill>
                  <a:srgbClr val="526674"/>
                </a:solidFill>
                <a:latin typeface="Arial"/>
                <a:ea typeface="Arial"/>
                <a:cs typeface="Arial"/>
              </a:defRPr>
            </a:pPr>
            <a:r>
              <a:rPr sz="1800" b="0">
                <a:solidFill>
                  <a:srgbClr val="526674"/>
                </a:solidFill>
                <a:latin typeface="Arial"/>
                <a:ea typeface="Arial"/>
                <a:cs typeface="Arial"/>
              </a:rPr>
              <a:t>CSUV: cinco meses de historia. La mejora de producto es un supuesto de escenario.</a:t>
            </a:r>
          </a:p>
        </p:txBody>
      </p:sp>
    </p:spTree>
    <p:extLst>
      <p:ext uri="{BB962C8B-B14F-4D97-AF65-F5344CB8AC3E}">
        <p14:creationId xmlns:p14="http://schemas.microsoft.com/office/powerpoint/2010/main" val="3945757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3105EB-2830-45E3-93B9-DED5BABD133E}"/>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La prueba A012 mejora la referencia, pero falla en MD</a:t>
            </a:r>
          </a:p>
        </p:txBody>
      </p:sp>
      <p:sp>
        <p:nvSpPr>
          <p:cNvPr id="2" name="">
            <a:extLst xmlns:a="http://schemas.openxmlformats.org/drawingml/2006/main">
              <a:ext uri="{FF2B5EF4-FFF2-40B4-BE49-F238E27FC236}">
                <a16:creationId xmlns:a16="http://schemas.microsoft.com/office/drawing/2014/main" id="{74DFA8E0-3A65-40A5-925A-1944A788F79B}"/>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DF68A155-5263-46A0-8162-31DAE4C74BEC}"/>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4</a:t>
            </a:r>
          </a:p>
        </p:txBody>
      </p:sp>
      <p:graphicFrame>
        <p:nvGraphicFramePr>
          <p:cNvPr id="4" name="">
            <a:extLst xmlns:a="http://schemas.openxmlformats.org/drawingml/2006/main">
              <a:ext uri="{FF2B5EF4-FFF2-40B4-BE49-F238E27FC236}">
                <a16:creationId xmlns:a16="http://schemas.microsoft.com/office/drawing/2014/main" id="{3C656338-DF54-43C1-A4F5-B9E07C1933A9}"/>
              </a:ext>
            </a:extLst>
          </p:cNvPr>
          <p:cNvGraphicFramePr/>
          <p:nvPr/>
        </p:nvGraphicFramePr>
        <p:xfrm>
          <a:off xmlns:a="http://schemas.openxmlformats.org/drawingml/2006/main" x="552450" y="1552575"/>
          <a:ext xmlns:a="http://schemas.openxmlformats.org/drawingml/2006/main" cx="11087100" cy="3505200"/>
        </p:xfrm>
        <a:graphic xmlns:a="http://schemas.openxmlformats.org/drawingml/2006/main">
          <a:graphicData uri="http://schemas.openxmlformats.org/drawingml/2006/table">
            <a:tbl>
              <a:tblPr/>
              <a:tblGrid>
                <a:gridCol w="3143250"/>
                <a:gridCol w="3952875"/>
                <a:gridCol w="3990975"/>
              </a:tblGrid>
              <a:tr h="438150">
                <a:tc>
                  <a:txBody>
                    <a:bodyPr/>
                    <a:lstStyle/>
                    <a:p>
                      <a:r>
                        <a:rPr sz="1875" b="1">
                          <a:solidFill>
                            <a:srgbClr val="FFFFFF"/>
                          </a:solidFill>
                          <a:latin typeface="Arial"/>
                          <a:ea typeface="Arial"/>
                          <a:cs typeface="Arial"/>
                        </a:rPr>
                        <a:t>Segmento</a:t>
                      </a:r>
                    </a:p>
                  </a:txBody>
                  <a:tcPr marL="85725" marR="85725" marT="28575" marB="28575" anchor="ctr">
                    <a:solidFill>
                      <a:srgbClr val="102C3D"/>
                    </a:solidFill>
                  </a:tcPr>
                </a:tc>
                <a:tc>
                  <a:txBody>
                    <a:bodyPr/>
                    <a:lstStyle/>
                    <a:p>
                      <a:r>
                        <a:rPr sz="1875" b="1">
                          <a:solidFill>
                            <a:srgbClr val="FFFFFF"/>
                          </a:solidFill>
                          <a:latin typeface="Arial"/>
                          <a:ea typeface="Arial"/>
                          <a:cs typeface="Arial"/>
                        </a:rPr>
                        <a:t>WAPE modelo</a:t>
                      </a:r>
                    </a:p>
                  </a:txBody>
                  <a:tcPr marL="85725" marR="85725" marT="28575" marB="28575" anchor="ctr">
                    <a:solidFill>
                      <a:srgbClr val="102C3D"/>
                    </a:solidFill>
                  </a:tcPr>
                </a:tc>
                <a:tc>
                  <a:txBody>
                    <a:bodyPr/>
                    <a:lstStyle/>
                    <a:p>
                      <a:r>
                        <a:rPr sz="1875" b="1">
                          <a:solidFill>
                            <a:srgbClr val="FFFFFF"/>
                          </a:solidFill>
                          <a:latin typeface="Arial"/>
                          <a:ea typeface="Arial"/>
                          <a:cs typeface="Arial"/>
                        </a:rPr>
                        <a:t>WAPE año anterior</a:t>
                      </a:r>
                    </a:p>
                  </a:txBody>
                  <a:tcPr marL="85725" marR="85725" marT="28575" marB="28575" anchor="ctr">
                    <a:solidFill>
                      <a:srgbClr val="102C3D"/>
                    </a:solidFill>
                  </a:tcPr>
                </a:tc>
              </a:tr>
              <a:tr h="438150">
                <a:tc>
                  <a:txBody>
                    <a:bodyPr/>
                    <a:lstStyle/>
                    <a:p>
                      <a:r>
                        <a:rPr sz="1875" b="0">
                          <a:solidFill>
                            <a:srgbClr val="102C3D"/>
                          </a:solidFill>
                          <a:latin typeface="Arial"/>
                          <a:ea typeface="Arial"/>
                          <a:cs typeface="Arial"/>
                        </a:rPr>
                        <a:t>B</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28,0%</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23,2%</a:t>
                      </a:r>
                    </a:p>
                  </a:txBody>
                  <a:tcPr marL="85725" marR="85725" marT="28575" marB="28575" anchor="ctr">
                    <a:solidFill>
                      <a:srgbClr val="FFFFFF"/>
                    </a:solidFill>
                  </a:tcPr>
                </a:tc>
              </a:tr>
              <a:tr h="438150">
                <a:tc>
                  <a:txBody>
                    <a:bodyPr/>
                    <a:lstStyle/>
                    <a:p>
                      <a:r>
                        <a:rPr sz="1875" b="0">
                          <a:solidFill>
                            <a:srgbClr val="102C3D"/>
                          </a:solidFill>
                          <a:latin typeface="Arial"/>
                          <a:ea typeface="Arial"/>
                          <a:cs typeface="Arial"/>
                        </a:rPr>
                        <a:t>C</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29,8%</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45,5%</a:t>
                      </a:r>
                    </a:p>
                  </a:txBody>
                  <a:tcPr marL="85725" marR="85725" marT="28575" marB="28575" anchor="ctr">
                    <a:solidFill>
                      <a:srgbClr val="EAF2F3"/>
                    </a:solidFill>
                  </a:tcPr>
                </a:tc>
              </a:tr>
              <a:tr h="438150">
                <a:tc>
                  <a:txBody>
                    <a:bodyPr/>
                    <a:lstStyle/>
                    <a:p>
                      <a:r>
                        <a:rPr sz="1875" b="0">
                          <a:solidFill>
                            <a:srgbClr val="102C3D"/>
                          </a:solidFill>
                          <a:latin typeface="Arial"/>
                          <a:ea typeface="Arial"/>
                          <a:cs typeface="Arial"/>
                        </a:rPr>
                        <a:t>MD</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95,2%</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71,9%</a:t>
                      </a:r>
                    </a:p>
                  </a:txBody>
                  <a:tcPr marL="85725" marR="85725" marT="28575" marB="28575" anchor="ctr">
                    <a:solidFill>
                      <a:srgbClr val="FFFFFF"/>
                    </a:solidFill>
                  </a:tcPr>
                </a:tc>
              </a:tr>
              <a:tr h="438150">
                <a:tc>
                  <a:txBody>
                    <a:bodyPr/>
                    <a:lstStyle/>
                    <a:p>
                      <a:r>
                        <a:rPr sz="1875" b="0">
                          <a:solidFill>
                            <a:srgbClr val="102C3D"/>
                          </a:solidFill>
                          <a:latin typeface="Arial"/>
                          <a:ea typeface="Arial"/>
                          <a:cs typeface="Arial"/>
                        </a:rPr>
                        <a:t>SSUV</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12,2%</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21,3%</a:t>
                      </a:r>
                    </a:p>
                  </a:txBody>
                  <a:tcPr marL="85725" marR="85725" marT="28575" marB="28575" anchor="ctr">
                    <a:solidFill>
                      <a:srgbClr val="EAF2F3"/>
                    </a:solidFill>
                  </a:tcPr>
                </a:tc>
              </a:tr>
              <a:tr h="438150">
                <a:tc>
                  <a:txBody>
                    <a:bodyPr/>
                    <a:lstStyle/>
                    <a:p>
                      <a:r>
                        <a:rPr sz="1875" b="0">
                          <a:solidFill>
                            <a:srgbClr val="102C3D"/>
                          </a:solidFill>
                          <a:latin typeface="Arial"/>
                          <a:ea typeface="Arial"/>
                          <a:cs typeface="Arial"/>
                        </a:rPr>
                        <a:t>CSUV</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100,0%</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100,0%</a:t>
                      </a:r>
                    </a:p>
                  </a:txBody>
                  <a:tcPr marL="85725" marR="85725" marT="28575" marB="28575" anchor="ctr">
                    <a:solidFill>
                      <a:srgbClr val="FFFFFF"/>
                    </a:solidFill>
                  </a:tcPr>
                </a:tc>
              </a:tr>
              <a:tr h="438150">
                <a:tc>
                  <a:txBody>
                    <a:bodyPr/>
                    <a:lstStyle/>
                    <a:p>
                      <a:r>
                        <a:rPr sz="1875" b="0">
                          <a:solidFill>
                            <a:srgbClr val="102C3D"/>
                          </a:solidFill>
                          <a:latin typeface="Arial"/>
                          <a:ea typeface="Arial"/>
                          <a:cs typeface="Arial"/>
                        </a:rPr>
                        <a:t>MSUV</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23,0%</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19,2%</a:t>
                      </a:r>
                    </a:p>
                  </a:txBody>
                  <a:tcPr marL="85725" marR="85725" marT="28575" marB="28575" anchor="ctr">
                    <a:solidFill>
                      <a:srgbClr val="EAF2F3"/>
                    </a:solidFill>
                  </a:tcPr>
                </a:tc>
              </a:tr>
              <a:tr h="438150">
                <a:tc>
                  <a:txBody>
                    <a:bodyPr/>
                    <a:lstStyle/>
                    <a:p>
                      <a:r>
                        <a:rPr sz="1875" b="0">
                          <a:solidFill>
                            <a:srgbClr val="102C3D"/>
                          </a:solidFill>
                          <a:latin typeface="Arial"/>
                          <a:ea typeface="Arial"/>
                          <a:cs typeface="Arial"/>
                        </a:rPr>
                        <a:t>S</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29,3%</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28,5%</a:t>
                      </a:r>
                    </a:p>
                  </a:txBody>
                  <a:tcPr marL="85725" marR="85725" marT="28575" marB="285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C95F37A-C148-41AD-A9F5-B862DE461B88}"/>
              </a:ext>
            </a:extLst>
          </p:cNvPr>
          <p:cNvSpPr>
            <a:spLocks xmlns:a="http://schemas.openxmlformats.org/drawingml/2006/main" noGrp="1"/>
          </p:cNvSpPr>
          <p:nvPr/>
        </p:nvSpPr>
        <p:spPr>
          <a:xfrm xmlns:a="http://schemas.openxmlformats.org/drawingml/2006/main">
            <a:off x="552450" y="5572125"/>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C493F"/>
                </a:solidFill>
                <a:latin typeface="Arial"/>
                <a:ea typeface="Arial"/>
                <a:cs typeface="Arial"/>
              </a:defRPr>
            </a:defPPr>
          </a:lstStyle>
          <a:p xmlns:a="http://schemas.openxmlformats.org/drawingml/2006/main">
            <a:pPr>
              <a:defRPr sz="1800" b="0">
                <a:solidFill>
                  <a:srgbClr val="AC493F"/>
                </a:solidFill>
                <a:latin typeface="Arial"/>
                <a:ea typeface="Arial"/>
                <a:cs typeface="Arial"/>
              </a:defRPr>
            </a:pPr>
            <a:r>
              <a:rPr sz="1800" b="0">
                <a:solidFill>
                  <a:srgbClr val="AC493F"/>
                </a:solidFill>
                <a:latin typeface="Arial"/>
                <a:ea typeface="Arial"/>
                <a:cs typeface="Arial"/>
              </a:rPr>
              <a:t>Total: 28,3% frente a 31,1%. CSUV sin historial previo. MD requiere especial cautela.</a:t>
            </a:r>
          </a:p>
        </p:txBody>
      </p:sp>
    </p:spTree>
    <p:extLst>
      <p:ext uri="{BB962C8B-B14F-4D97-AF65-F5344CB8AC3E}">
        <p14:creationId xmlns:p14="http://schemas.microsoft.com/office/powerpoint/2010/main" val="20851111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FBD77E-18FB-431D-9B6A-95FD4B5EFA1C}"/>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Tres escenarios con un mismo plan inicial</a:t>
            </a:r>
          </a:p>
        </p:txBody>
      </p:sp>
      <p:sp>
        <p:nvSpPr>
          <p:cNvPr id="2" name="">
            <a:extLst xmlns:a="http://schemas.openxmlformats.org/drawingml/2006/main">
              <a:ext uri="{FF2B5EF4-FFF2-40B4-BE49-F238E27FC236}">
                <a16:creationId xmlns:a16="http://schemas.microsoft.com/office/drawing/2014/main" id="{10D7B0A0-222E-45F5-9023-AB8ABCF0F1D5}"/>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E28481B9-E4B8-474B-8A2E-05D7AE891F55}"/>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FE706EAA-38F5-4139-87E6-AC808CC3DF5C}"/>
              </a:ext>
            </a:extLst>
          </p:cNvPr>
          <p:cNvGraphicFramePr/>
          <p:nvPr/>
        </p:nvGraphicFramePr>
        <p:xfrm>
          <a:off xmlns:a="http://schemas.openxmlformats.org/drawingml/2006/main" x="552450" y="1524000"/>
          <a:ext xmlns:a="http://schemas.openxmlformats.org/drawingml/2006/main" cx="11087100" cy="3333750"/>
        </p:xfrm>
        <a:graphic xmlns:a="http://schemas.openxmlformats.org/drawingml/2006/main">
          <a:graphicData uri="http://schemas.openxmlformats.org/drawingml/2006/table">
            <a:tbl>
              <a:tblPr/>
              <a:tblGrid>
                <a:gridCol w="3190875"/>
                <a:gridCol w="2695575"/>
                <a:gridCol w="2381250"/>
                <a:gridCol w="2819400"/>
              </a:tblGrid>
              <a:tr h="555625">
                <a:tc>
                  <a:txBody>
                    <a:bodyPr/>
                    <a:lstStyle/>
                    <a:p>
                      <a:r>
                        <a:rPr sz="1800" b="1">
                          <a:solidFill>
                            <a:srgbClr val="FFFFFF"/>
                          </a:solidFill>
                          <a:latin typeface="Arial"/>
                          <a:ea typeface="Arial"/>
                          <a:cs typeface="Arial"/>
                        </a:rPr>
                        <a:t>Supuesto</a:t>
                      </a:r>
                    </a:p>
                  </a:txBody>
                  <a:tcPr marL="85725" marR="85725" marT="28575" marB="28575" anchor="ctr">
                    <a:solidFill>
                      <a:srgbClr val="102C3D"/>
                    </a:solidFill>
                  </a:tcPr>
                </a:tc>
                <a:tc>
                  <a:txBody>
                    <a:bodyPr/>
                    <a:lstStyle/>
                    <a:p>
                      <a:r>
                        <a:rPr sz="1800" b="1">
                          <a:solidFill>
                            <a:srgbClr val="FFFFFF"/>
                          </a:solidFill>
                          <a:latin typeface="Arial"/>
                          <a:ea typeface="Arial"/>
                          <a:cs typeface="Arial"/>
                        </a:rPr>
                        <a:t>Pesimista</a:t>
                      </a:r>
                    </a:p>
                  </a:txBody>
                  <a:tcPr marL="85725" marR="85725" marT="28575" marB="28575" anchor="ctr">
                    <a:solidFill>
                      <a:srgbClr val="102C3D"/>
                    </a:solidFill>
                  </a:tcPr>
                </a:tc>
                <a:tc>
                  <a:txBody>
                    <a:bodyPr/>
                    <a:lstStyle/>
                    <a:p>
                      <a:r>
                        <a:rPr sz="1800" b="1">
                          <a:solidFill>
                            <a:srgbClr val="FFFFFF"/>
                          </a:solidFill>
                          <a:latin typeface="Arial"/>
                          <a:ea typeface="Arial"/>
                          <a:cs typeface="Arial"/>
                        </a:rPr>
                        <a:t>Central</a:t>
                      </a:r>
                    </a:p>
                  </a:txBody>
                  <a:tcPr marL="85725" marR="85725" marT="28575" marB="28575" anchor="ctr">
                    <a:solidFill>
                      <a:srgbClr val="102C3D"/>
                    </a:solidFill>
                  </a:tcPr>
                </a:tc>
                <a:tc>
                  <a:txBody>
                    <a:bodyPr/>
                    <a:lstStyle/>
                    <a:p>
                      <a:r>
                        <a:rPr sz="1800" b="1">
                          <a:solidFill>
                            <a:srgbClr val="FFFFFF"/>
                          </a:solidFill>
                          <a:latin typeface="Arial"/>
                          <a:ea typeface="Arial"/>
                          <a:cs typeface="Arial"/>
                        </a:rPr>
                        <a:t>Optimista</a:t>
                      </a:r>
                    </a:p>
                  </a:txBody>
                  <a:tcPr marL="85725" marR="85725" marT="28575" marB="28575" anchor="ctr">
                    <a:solidFill>
                      <a:srgbClr val="102C3D"/>
                    </a:solidFill>
                  </a:tcPr>
                </a:tc>
              </a:tr>
              <a:tr h="555625">
                <a:tc>
                  <a:txBody>
                    <a:bodyPr/>
                    <a:lstStyle/>
                    <a:p>
                      <a:r>
                        <a:rPr sz="1800" b="0">
                          <a:solidFill>
                            <a:srgbClr val="102C3D"/>
                          </a:solidFill>
                          <a:latin typeface="Arial"/>
                          <a:ea typeface="Arial"/>
                          <a:cs typeface="Arial"/>
                        </a:rPr>
                        <a:t>Paro</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+2 pp</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Estable</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-1 pp</a:t>
                      </a:r>
                    </a:p>
                  </a:txBody>
                  <a:tcPr marL="85725" marR="85725" marT="28575" marB="28575" anchor="ctr">
                    <a:solidFill>
                      <a:srgbClr val="FFFFFF"/>
                    </a:solidFill>
                  </a:tcPr>
                </a:tc>
              </a:tr>
              <a:tr h="555625">
                <a:tc>
                  <a:txBody>
                    <a:bodyPr/>
                    <a:lstStyle/>
                    <a:p>
                      <a:r>
                        <a:rPr sz="1800" b="0">
                          <a:solidFill>
                            <a:srgbClr val="102C3D"/>
                          </a:solidFill>
                          <a:latin typeface="Arial"/>
                          <a:ea typeface="Arial"/>
                          <a:cs typeface="Arial"/>
                        </a:rPr>
                        <a:t>Caída posadelanto</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6 meses</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3 meses</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1 mes</a:t>
                      </a:r>
                    </a:p>
                  </a:txBody>
                  <a:tcPr marL="85725" marR="85725" marT="28575" marB="28575" anchor="ctr">
                    <a:solidFill>
                      <a:srgbClr val="EAF2F3"/>
                    </a:solidFill>
                  </a:tcPr>
                </a:tc>
              </a:tr>
              <a:tr h="555625">
                <a:tc>
                  <a:txBody>
                    <a:bodyPr/>
                    <a:lstStyle/>
                    <a:p>
                      <a:r>
                        <a:rPr sz="1800" b="0">
                          <a:solidFill>
                            <a:srgbClr val="102C3D"/>
                          </a:solidFill>
                          <a:latin typeface="Arial"/>
                          <a:ea typeface="Arial"/>
                          <a:cs typeface="Arial"/>
                        </a:rPr>
                        <a:t>CO2 / coste vehículo</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CO2 + arancel 5%</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Sin cargo</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Coste -1%</a:t>
                      </a:r>
                    </a:p>
                  </a:txBody>
                  <a:tcPr marL="85725" marR="85725" marT="28575" marB="28575" anchor="ctr">
                    <a:solidFill>
                      <a:srgbClr val="FFFFFF"/>
                    </a:solidFill>
                  </a:tcPr>
                </a:tc>
              </a:tr>
              <a:tr h="555625">
                <a:tc>
                  <a:txBody>
                    <a:bodyPr/>
                    <a:lstStyle/>
                    <a:p>
                      <a:r>
                        <a:rPr sz="1800" b="0">
                          <a:solidFill>
                            <a:srgbClr val="102C3D"/>
                          </a:solidFill>
                          <a:latin typeface="Arial"/>
                          <a:ea typeface="Arial"/>
                          <a:cs typeface="Arial"/>
                        </a:rPr>
                        <a:t>Producto CSUV</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Julio</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Abril</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Abril, mayor efecto</a:t>
                      </a:r>
                    </a:p>
                  </a:txBody>
                  <a:tcPr marL="85725" marR="85725" marT="28575" marB="28575" anchor="ctr">
                    <a:solidFill>
                      <a:srgbClr val="EAF2F3"/>
                    </a:solidFill>
                  </a:tcPr>
                </a:tc>
              </a:tr>
              <a:tr h="555625">
                <a:tc>
                  <a:txBody>
                    <a:bodyPr/>
                    <a:lstStyle/>
                    <a:p>
                      <a:r>
                        <a:rPr sz="1800" b="0">
                          <a:solidFill>
                            <a:srgbClr val="102C3D"/>
                          </a:solidFill>
                          <a:latin typeface="Arial"/>
                          <a:ea typeface="Arial"/>
                          <a:cs typeface="Arial"/>
                        </a:rPr>
                        <a:t>Suministro CSUV</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Sin fabricar en mayo</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Normal</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Sin restricción</a:t>
                      </a:r>
                    </a:p>
                  </a:txBody>
                  <a:tcPr marL="85725" marR="85725" marT="28575" marB="285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86B83D1-C2D8-49E3-824F-5CD650CC47A3}"/>
              </a:ext>
            </a:extLst>
          </p:cNvPr>
          <p:cNvSpPr>
            <a:spLocks xmlns:a="http://schemas.openxmlformats.org/drawingml/2006/main" noGrp="1"/>
          </p:cNvSpPr>
          <p:nvPr/>
        </p:nvSpPr>
        <p:spPr>
          <a:xfrm xmlns:a="http://schemas.openxmlformats.org/drawingml/2006/main">
            <a:off x="552450" y="541020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4"/>
                </a:solidFill>
                <a:latin typeface="Arial"/>
                <a:ea typeface="Arial"/>
                <a:cs typeface="Arial"/>
              </a:defRPr>
            </a:defPPr>
          </a:lstStyle>
          <a:p xmlns:a="http://schemas.openxmlformats.org/drawingml/2006/main">
            <a:pPr>
              <a:defRPr sz="1800" b="0">
                <a:solidFill>
                  <a:srgbClr val="526674"/>
                </a:solidFill>
                <a:latin typeface="Arial"/>
                <a:ea typeface="Arial"/>
                <a:cs typeface="Arial"/>
              </a:defRPr>
            </a:pPr>
            <a:r>
              <a:rPr sz="1800" b="0">
                <a:solidFill>
                  <a:srgbClr val="526674"/>
                </a:solidFill>
                <a:latin typeface="Arial"/>
                <a:ea typeface="Arial"/>
                <a:cs typeface="Arial"/>
              </a:rPr>
              <a:t>Supuestos externos: combustible -3% / 0% / +2% de demanda. Transfers hasta 10%.</a:t>
            </a:r>
          </a:p>
        </p:txBody>
      </p:sp>
    </p:spTree>
    <p:extLst>
      <p:ext uri="{BB962C8B-B14F-4D97-AF65-F5344CB8AC3E}">
        <p14:creationId xmlns:p14="http://schemas.microsoft.com/office/powerpoint/2010/main" val="252500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547429-1D95-4591-9080-2240E3BAF208}"/>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23.162 coches en el plan inicial de fabricación</a:t>
            </a:r>
          </a:p>
        </p:txBody>
      </p:sp>
      <p:sp>
        <p:nvSpPr>
          <p:cNvPr id="2" name="">
            <a:extLst xmlns:a="http://schemas.openxmlformats.org/drawingml/2006/main">
              <a:ext uri="{FF2B5EF4-FFF2-40B4-BE49-F238E27FC236}">
                <a16:creationId xmlns:a16="http://schemas.microsoft.com/office/drawing/2014/main" id="{62788445-CE3B-4B01-A145-18421734BDF8}"/>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7E2A0C8D-889C-44FD-B15B-1F246A80BFE3}"/>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6</a:t>
            </a:r>
          </a:p>
        </p:txBody>
      </p:sp>
      <p:graphicFrame>
        <p:nvGraphicFramePr>
          <p:cNvPr id="4" name="">
            <a:extLst xmlns:a="http://schemas.openxmlformats.org/drawingml/2006/main">
              <a:ext uri="{FF2B5EF4-FFF2-40B4-BE49-F238E27FC236}">
                <a16:creationId xmlns:a16="http://schemas.microsoft.com/office/drawing/2014/main" id="{8BBB215C-CC58-484D-887F-D16397268A8E}"/>
              </a:ext>
            </a:extLst>
          </p:cNvPr>
          <p:cNvGraphicFramePr/>
          <p:nvPr/>
        </p:nvGraphicFramePr>
        <p:xfrm>
          <a:off xmlns:a="http://schemas.openxmlformats.org/drawingml/2006/main" x="552450" y="1428750"/>
          <a:ext xmlns:a="http://schemas.openxmlformats.org/drawingml/2006/main" cx="11087100" cy="4086225"/>
        </p:xfrm>
        <a:graphic xmlns:a="http://schemas.openxmlformats.org/drawingml/2006/main">
          <a:graphicData uri="http://schemas.openxmlformats.org/drawingml/2006/table">
            <a:tbl>
              <a:tblPr/>
              <a:tblGrid>
                <a:gridCol w="1285875"/>
                <a:gridCol w="1400175"/>
                <a:gridCol w="1400175"/>
                <a:gridCol w="1400175"/>
                <a:gridCol w="1400175"/>
                <a:gridCol w="1400175"/>
                <a:gridCol w="1400175"/>
                <a:gridCol w="1400175"/>
              </a:tblGrid>
              <a:tr h="314325">
                <a:tc>
                  <a:txBody>
                    <a:bodyPr/>
                    <a:lstStyle/>
                    <a:p>
                      <a:r>
                        <a:rPr sz="1575" b="1">
                          <a:solidFill>
                            <a:srgbClr val="FFFFFF"/>
                          </a:solidFill>
                          <a:latin typeface="Arial"/>
                          <a:ea typeface="Arial"/>
                          <a:cs typeface="Arial"/>
                        </a:rPr>
                        <a:t>Mes</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B</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C</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MD</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SSUV</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CSUV</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MSUV</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S</a:t>
                      </a:r>
                    </a:p>
                  </a:txBody>
                  <a:tcPr marL="85725" marR="85725" marT="28575" marB="28575" anchor="ctr">
                    <a:solidFill>
                      <a:srgbClr val="102C3D"/>
                    </a:solidFill>
                  </a:tcPr>
                </a:tc>
              </a:tr>
              <a:tr h="314325">
                <a:tc>
                  <a:txBody>
                    <a:bodyPr/>
                    <a:lstStyle/>
                    <a:p>
                      <a:r>
                        <a:rPr sz="1575" b="0">
                          <a:solidFill>
                            <a:srgbClr val="102C3D"/>
                          </a:solidFill>
                          <a:latin typeface="Arial"/>
                          <a:ea typeface="Arial"/>
                          <a:cs typeface="Arial"/>
                        </a:rPr>
                        <a:t>Ene</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131</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0</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0</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431</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0</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599</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37</a:t>
                      </a:r>
                    </a:p>
                  </a:txBody>
                  <a:tcPr marL="85725" marR="85725" marT="28575" marB="28575" anchor="ctr">
                    <a:solidFill>
                      <a:srgbClr val="FFFFFF"/>
                    </a:solidFill>
                  </a:tcPr>
                </a:tc>
              </a:tr>
              <a:tr h="314325">
                <a:tc>
                  <a:txBody>
                    <a:bodyPr/>
                    <a:lstStyle/>
                    <a:p>
                      <a:r>
                        <a:rPr sz="1575" b="0">
                          <a:solidFill>
                            <a:srgbClr val="102C3D"/>
                          </a:solidFill>
                          <a:latin typeface="Arial"/>
                          <a:ea typeface="Arial"/>
                          <a:cs typeface="Arial"/>
                        </a:rPr>
                        <a:t>Feb</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140</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0</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23</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534</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0</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667</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49</a:t>
                      </a:r>
                    </a:p>
                  </a:txBody>
                  <a:tcPr marL="85725" marR="85725" marT="28575" marB="28575" anchor="ctr">
                    <a:solidFill>
                      <a:srgbClr val="EAF2F3"/>
                    </a:solidFill>
                  </a:tcPr>
                </a:tc>
              </a:tr>
              <a:tr h="314325">
                <a:tc>
                  <a:txBody>
                    <a:bodyPr/>
                    <a:lstStyle/>
                    <a:p>
                      <a:r>
                        <a:rPr sz="1575" b="0">
                          <a:solidFill>
                            <a:srgbClr val="102C3D"/>
                          </a:solidFill>
                          <a:latin typeface="Arial"/>
                          <a:ea typeface="Arial"/>
                          <a:cs typeface="Arial"/>
                        </a:rPr>
                        <a:t>Mar</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158</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27</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46</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569</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189</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672</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48</a:t>
                      </a:r>
                    </a:p>
                  </a:txBody>
                  <a:tcPr marL="85725" marR="85725" marT="28575" marB="28575" anchor="ctr">
                    <a:solidFill>
                      <a:srgbClr val="FFFFFF"/>
                    </a:solidFill>
                  </a:tcPr>
                </a:tc>
              </a:tr>
              <a:tr h="314325">
                <a:tc>
                  <a:txBody>
                    <a:bodyPr/>
                    <a:lstStyle/>
                    <a:p>
                      <a:r>
                        <a:rPr sz="1575" b="0">
                          <a:solidFill>
                            <a:srgbClr val="102C3D"/>
                          </a:solidFill>
                          <a:latin typeface="Arial"/>
                          <a:ea typeface="Arial"/>
                          <a:cs typeface="Arial"/>
                        </a:rPr>
                        <a:t>Abr</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160</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369</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46</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647</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319</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741</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47</a:t>
                      </a:r>
                    </a:p>
                  </a:txBody>
                  <a:tcPr marL="85725" marR="85725" marT="28575" marB="28575" anchor="ctr">
                    <a:solidFill>
                      <a:srgbClr val="EAF2F3"/>
                    </a:solidFill>
                  </a:tcPr>
                </a:tc>
              </a:tr>
              <a:tr h="314325">
                <a:tc>
                  <a:txBody>
                    <a:bodyPr/>
                    <a:lstStyle/>
                    <a:p>
                      <a:r>
                        <a:rPr sz="1575" b="0">
                          <a:solidFill>
                            <a:srgbClr val="102C3D"/>
                          </a:solidFill>
                          <a:latin typeface="Arial"/>
                          <a:ea typeface="Arial"/>
                          <a:cs typeface="Arial"/>
                        </a:rPr>
                        <a:t>May</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113</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268</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31</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460</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233</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495</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44</a:t>
                      </a:r>
                    </a:p>
                  </a:txBody>
                  <a:tcPr marL="85725" marR="85725" marT="28575" marB="28575" anchor="ctr">
                    <a:solidFill>
                      <a:srgbClr val="FFFFFF"/>
                    </a:solidFill>
                  </a:tcPr>
                </a:tc>
              </a:tr>
              <a:tr h="314325">
                <a:tc>
                  <a:txBody>
                    <a:bodyPr/>
                    <a:lstStyle/>
                    <a:p>
                      <a:r>
                        <a:rPr sz="1575" b="0">
                          <a:solidFill>
                            <a:srgbClr val="102C3D"/>
                          </a:solidFill>
                          <a:latin typeface="Arial"/>
                          <a:ea typeface="Arial"/>
                          <a:cs typeface="Arial"/>
                        </a:rPr>
                        <a:t>Jun</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121</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290</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37</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581</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242</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558</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40</a:t>
                      </a:r>
                    </a:p>
                  </a:txBody>
                  <a:tcPr marL="85725" marR="85725" marT="28575" marB="28575" anchor="ctr">
                    <a:solidFill>
                      <a:srgbClr val="EAF2F3"/>
                    </a:solidFill>
                  </a:tcPr>
                </a:tc>
              </a:tr>
              <a:tr h="314325">
                <a:tc>
                  <a:txBody>
                    <a:bodyPr/>
                    <a:lstStyle/>
                    <a:p>
                      <a:r>
                        <a:rPr sz="1575" b="0">
                          <a:solidFill>
                            <a:srgbClr val="102C3D"/>
                          </a:solidFill>
                          <a:latin typeface="Arial"/>
                          <a:ea typeface="Arial"/>
                          <a:cs typeface="Arial"/>
                        </a:rPr>
                        <a:t>Jul</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142</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327</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39</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689</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291</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639</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50</a:t>
                      </a:r>
                    </a:p>
                  </a:txBody>
                  <a:tcPr marL="85725" marR="85725" marT="28575" marB="28575" anchor="ctr">
                    <a:solidFill>
                      <a:srgbClr val="FFFFFF"/>
                    </a:solidFill>
                  </a:tcPr>
                </a:tc>
              </a:tr>
              <a:tr h="314325">
                <a:tc>
                  <a:txBody>
                    <a:bodyPr/>
                    <a:lstStyle/>
                    <a:p>
                      <a:r>
                        <a:rPr sz="1575" b="0">
                          <a:solidFill>
                            <a:srgbClr val="102C3D"/>
                          </a:solidFill>
                          <a:latin typeface="Arial"/>
                          <a:ea typeface="Arial"/>
                          <a:cs typeface="Arial"/>
                        </a:rPr>
                        <a:t>Ago</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143</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338</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39</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618</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290</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626</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37</a:t>
                      </a:r>
                    </a:p>
                  </a:txBody>
                  <a:tcPr marL="85725" marR="85725" marT="28575" marB="28575" anchor="ctr">
                    <a:solidFill>
                      <a:srgbClr val="EAF2F3"/>
                    </a:solidFill>
                  </a:tcPr>
                </a:tc>
              </a:tr>
              <a:tr h="314325">
                <a:tc>
                  <a:txBody>
                    <a:bodyPr/>
                    <a:lstStyle/>
                    <a:p>
                      <a:r>
                        <a:rPr sz="1575" b="0">
                          <a:solidFill>
                            <a:srgbClr val="102C3D"/>
                          </a:solidFill>
                          <a:latin typeface="Arial"/>
                          <a:ea typeface="Arial"/>
                          <a:cs typeface="Arial"/>
                        </a:rPr>
                        <a:t>Sep</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152</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363</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40</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660</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304</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664</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40</a:t>
                      </a:r>
                    </a:p>
                  </a:txBody>
                  <a:tcPr marL="85725" marR="85725" marT="28575" marB="28575" anchor="ctr">
                    <a:solidFill>
                      <a:srgbClr val="FFFFFF"/>
                    </a:solidFill>
                  </a:tcPr>
                </a:tc>
              </a:tr>
              <a:tr h="314325">
                <a:tc>
                  <a:txBody>
                    <a:bodyPr/>
                    <a:lstStyle/>
                    <a:p>
                      <a:r>
                        <a:rPr sz="1575" b="0">
                          <a:solidFill>
                            <a:srgbClr val="102C3D"/>
                          </a:solidFill>
                          <a:latin typeface="Arial"/>
                          <a:ea typeface="Arial"/>
                          <a:cs typeface="Arial"/>
                        </a:rPr>
                        <a:t>Oct</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135</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317</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35</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620</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280</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597</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47</a:t>
                      </a:r>
                    </a:p>
                  </a:txBody>
                  <a:tcPr marL="85725" marR="85725" marT="28575" marB="28575" anchor="ctr">
                    <a:solidFill>
                      <a:srgbClr val="EAF2F3"/>
                    </a:solidFill>
                  </a:tcPr>
                </a:tc>
              </a:tr>
              <a:tr h="314325">
                <a:tc>
                  <a:txBody>
                    <a:bodyPr/>
                    <a:lstStyle/>
                    <a:p>
                      <a:r>
                        <a:rPr sz="1575" b="0">
                          <a:solidFill>
                            <a:srgbClr val="102C3D"/>
                          </a:solidFill>
                          <a:latin typeface="Arial"/>
                          <a:ea typeface="Arial"/>
                          <a:cs typeface="Arial"/>
                        </a:rPr>
                        <a:t>Nov</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139</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304</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34</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641</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287</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586</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51</a:t>
                      </a:r>
                    </a:p>
                  </a:txBody>
                  <a:tcPr marL="85725" marR="85725" marT="28575" marB="28575" anchor="ctr">
                    <a:solidFill>
                      <a:srgbClr val="FFFFFF"/>
                    </a:solidFill>
                  </a:tcPr>
                </a:tc>
              </a:tr>
              <a:tr h="314325">
                <a:tc>
                  <a:txBody>
                    <a:bodyPr/>
                    <a:lstStyle/>
                    <a:p>
                      <a:r>
                        <a:rPr sz="1575" b="0">
                          <a:solidFill>
                            <a:srgbClr val="102C3D"/>
                          </a:solidFill>
                          <a:latin typeface="Arial"/>
                          <a:ea typeface="Arial"/>
                          <a:cs typeface="Arial"/>
                        </a:rPr>
                        <a:t>Dic</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163</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346</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36</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754</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347</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729</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61</a:t>
                      </a:r>
                    </a:p>
                  </a:txBody>
                  <a:tcPr marL="85725" marR="85725" marT="28575" marB="28575" anchor="ctr">
                    <a:solidFill>
                      <a:srgbClr val="EAF2F3"/>
                    </a:solidFill>
                  </a:tcPr>
                </a:tc>
              </a:tr>
            </a:tbl>
          </a:graphicData>
        </a:graphic>
      </p:graphicFrame>
      <p:sp>
        <p:nvSpPr>
          <p:cNvPr id="5" name="">
            <a:extLst xmlns:a="http://schemas.openxmlformats.org/drawingml/2006/main">
              <a:ext uri="{FF2B5EF4-FFF2-40B4-BE49-F238E27FC236}">
                <a16:creationId xmlns:a16="http://schemas.microsoft.com/office/drawing/2014/main" id="{6712E5FE-200D-4D3E-9999-7CDCE9B60969}"/>
              </a:ext>
            </a:extLst>
          </p:cNvPr>
          <p:cNvSpPr>
            <a:spLocks xmlns:a="http://schemas.openxmlformats.org/drawingml/2006/main" noGrp="1"/>
          </p:cNvSpPr>
          <p:nvPr/>
        </p:nvSpPr>
        <p:spPr>
          <a:xfrm xmlns:a="http://schemas.openxmlformats.org/drawingml/2006/main">
            <a:off x="552450" y="5829300"/>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4"/>
                </a:solidFill>
                <a:latin typeface="Arial"/>
                <a:ea typeface="Arial"/>
                <a:cs typeface="Arial"/>
              </a:defRPr>
            </a:defPPr>
          </a:lstStyle>
          <a:p xmlns:a="http://schemas.openxmlformats.org/drawingml/2006/main">
            <a:pPr>
              <a:defRPr sz="1725" b="0">
                <a:solidFill>
                  <a:srgbClr val="526674"/>
                </a:solidFill>
                <a:latin typeface="Arial"/>
                <a:ea typeface="Arial"/>
                <a:cs typeface="Arial"/>
              </a:defRPr>
            </a:pPr>
            <a:r>
              <a:rPr sz="1725" b="0">
                <a:solidFill>
                  <a:srgbClr val="526674"/>
                </a:solidFill>
                <a:latin typeface="Arial"/>
                <a:ea typeface="Arial"/>
                <a:cs typeface="Arial"/>
              </a:rPr>
              <a:t>Enero llega en abril. Octubre-diciembre llegan en A014. Unidades por mes y segmento.</a:t>
            </a:r>
          </a:p>
        </p:txBody>
      </p:sp>
    </p:spTree>
    <p:extLst>
      <p:ext uri="{BB962C8B-B14F-4D97-AF65-F5344CB8AC3E}">
        <p14:creationId xmlns:p14="http://schemas.microsoft.com/office/powerpoint/2010/main" val="18223042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0A9660-9608-45BB-AD8D-FA8752E2BB8E}"/>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Los colchones reflejan el coste de quedarse corto</a:t>
            </a:r>
          </a:p>
        </p:txBody>
      </p:sp>
      <p:sp>
        <p:nvSpPr>
          <p:cNvPr id="2" name="">
            <a:extLst xmlns:a="http://schemas.openxmlformats.org/drawingml/2006/main">
              <a:ext uri="{FF2B5EF4-FFF2-40B4-BE49-F238E27FC236}">
                <a16:creationId xmlns:a16="http://schemas.microsoft.com/office/drawing/2014/main" id="{872D13A2-5C62-4CC4-B4F2-7ED6E8E4AED9}"/>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BCF5C013-DB34-43BA-830D-DBF0CC482DD8}"/>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2D7E1516-7045-4D2D-8F96-99647AEF3479}"/>
              </a:ext>
            </a:extLst>
          </p:cNvPr>
          <p:cNvGraphicFramePr/>
          <p:nvPr/>
        </p:nvGraphicFramePr>
        <p:xfrm>
          <a:off xmlns:a="http://schemas.openxmlformats.org/drawingml/2006/main" x="552450" y="1552575"/>
          <a:ext xmlns:a="http://schemas.openxmlformats.org/drawingml/2006/main" cx="6000750" cy="3619500"/>
        </p:xfrm>
        <a:graphic xmlns:a="http://schemas.openxmlformats.org/drawingml/2006/main">
          <a:graphicData uri="http://schemas.openxmlformats.org/drawingml/2006/table">
            <a:tbl>
              <a:tblPr/>
              <a:tblGrid>
                <a:gridCol w="2000250"/>
                <a:gridCol w="2762250"/>
                <a:gridCol w="1238250"/>
              </a:tblGrid>
              <a:tr h="452438">
                <a:tc>
                  <a:txBody>
                    <a:bodyPr/>
                    <a:lstStyle/>
                    <a:p>
                      <a:r>
                        <a:rPr sz="1875" b="1">
                          <a:solidFill>
                            <a:srgbClr val="FFFFFF"/>
                          </a:solidFill>
                          <a:latin typeface="Arial"/>
                          <a:ea typeface="Arial"/>
                          <a:cs typeface="Arial"/>
                        </a:rPr>
                        <a:t>Segmento</a:t>
                      </a:r>
                    </a:p>
                  </a:txBody>
                  <a:tcPr marL="85725" marR="85725" marT="28575" marB="28575" anchor="ctr">
                    <a:solidFill>
                      <a:srgbClr val="102C3D"/>
                    </a:solidFill>
                  </a:tcPr>
                </a:tc>
                <a:tc>
                  <a:txBody>
                    <a:bodyPr/>
                    <a:lstStyle/>
                    <a:p>
                      <a:r>
                        <a:rPr sz="1875" b="1">
                          <a:solidFill>
                            <a:srgbClr val="FFFFFF"/>
                          </a:solidFill>
                          <a:latin typeface="Arial"/>
                          <a:ea typeface="Arial"/>
                          <a:cs typeface="Arial"/>
                        </a:rPr>
                        <a:t>Stock seguridad (u.)</a:t>
                      </a:r>
                    </a:p>
                  </a:txBody>
                  <a:tcPr marL="85725" marR="85725" marT="28575" marB="28575" anchor="ctr">
                    <a:solidFill>
                      <a:srgbClr val="102C3D"/>
                    </a:solidFill>
                  </a:tcPr>
                </a:tc>
                <a:tc>
                  <a:txBody>
                    <a:bodyPr/>
                    <a:lstStyle/>
                    <a:p>
                      <a:r>
                        <a:rPr sz="1875" b="1">
                          <a:solidFill>
                            <a:srgbClr val="FFFFFF"/>
                          </a:solidFill>
                          <a:latin typeface="Arial"/>
                          <a:ea typeface="Arial"/>
                          <a:cs typeface="Arial"/>
                        </a:rPr>
                        <a:t>z</a:t>
                      </a:r>
                    </a:p>
                  </a:txBody>
                  <a:tcPr marL="85725" marR="85725" marT="28575" marB="28575" anchor="ctr">
                    <a:solidFill>
                      <a:srgbClr val="102C3D"/>
                    </a:solidFill>
                  </a:tcPr>
                </a:tc>
              </a:tr>
              <a:tr h="452438">
                <a:tc>
                  <a:txBody>
                    <a:bodyPr/>
                    <a:lstStyle/>
                    <a:p>
                      <a:r>
                        <a:rPr sz="1875" b="0">
                          <a:solidFill>
                            <a:srgbClr val="102C3D"/>
                          </a:solidFill>
                          <a:latin typeface="Arial"/>
                          <a:ea typeface="Arial"/>
                          <a:cs typeface="Arial"/>
                        </a:rPr>
                        <a:t>B</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0</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0,00</a:t>
                      </a:r>
                    </a:p>
                  </a:txBody>
                  <a:tcPr marL="85725" marR="85725" marT="28575" marB="28575" anchor="ctr">
                    <a:solidFill>
                      <a:srgbClr val="FFFFFF"/>
                    </a:solidFill>
                  </a:tcPr>
                </a:tc>
              </a:tr>
              <a:tr h="452438">
                <a:tc>
                  <a:txBody>
                    <a:bodyPr/>
                    <a:lstStyle/>
                    <a:p>
                      <a:r>
                        <a:rPr sz="1875" b="0">
                          <a:solidFill>
                            <a:srgbClr val="102C3D"/>
                          </a:solidFill>
                          <a:latin typeface="Arial"/>
                          <a:ea typeface="Arial"/>
                          <a:cs typeface="Arial"/>
                        </a:rPr>
                        <a:t>C</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431</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1,28</a:t>
                      </a:r>
                    </a:p>
                  </a:txBody>
                  <a:tcPr marL="85725" marR="85725" marT="28575" marB="28575" anchor="ctr">
                    <a:solidFill>
                      <a:srgbClr val="EAF2F3"/>
                    </a:solidFill>
                  </a:tcPr>
                </a:tc>
              </a:tr>
              <a:tr h="452438">
                <a:tc>
                  <a:txBody>
                    <a:bodyPr/>
                    <a:lstStyle/>
                    <a:p>
                      <a:r>
                        <a:rPr sz="1875" b="0">
                          <a:solidFill>
                            <a:srgbClr val="102C3D"/>
                          </a:solidFill>
                          <a:latin typeface="Arial"/>
                          <a:ea typeface="Arial"/>
                          <a:cs typeface="Arial"/>
                        </a:rPr>
                        <a:t>MD</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71</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1,65</a:t>
                      </a:r>
                    </a:p>
                  </a:txBody>
                  <a:tcPr marL="85725" marR="85725" marT="28575" marB="28575" anchor="ctr">
                    <a:solidFill>
                      <a:srgbClr val="FFFFFF"/>
                    </a:solidFill>
                  </a:tcPr>
                </a:tc>
              </a:tr>
              <a:tr h="452438">
                <a:tc>
                  <a:txBody>
                    <a:bodyPr/>
                    <a:lstStyle/>
                    <a:p>
                      <a:r>
                        <a:rPr sz="1875" b="0">
                          <a:solidFill>
                            <a:srgbClr val="102C3D"/>
                          </a:solidFill>
                          <a:latin typeface="Arial"/>
                          <a:ea typeface="Arial"/>
                          <a:cs typeface="Arial"/>
                        </a:rPr>
                        <a:t>SSUV</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230</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1,65</a:t>
                      </a:r>
                    </a:p>
                  </a:txBody>
                  <a:tcPr marL="85725" marR="85725" marT="28575" marB="28575" anchor="ctr">
                    <a:solidFill>
                      <a:srgbClr val="EAF2F3"/>
                    </a:solidFill>
                  </a:tcPr>
                </a:tc>
              </a:tr>
              <a:tr h="452438">
                <a:tc>
                  <a:txBody>
                    <a:bodyPr/>
                    <a:lstStyle/>
                    <a:p>
                      <a:r>
                        <a:rPr sz="1875" b="0">
                          <a:solidFill>
                            <a:srgbClr val="102C3D"/>
                          </a:solidFill>
                          <a:latin typeface="Arial"/>
                          <a:ea typeface="Arial"/>
                          <a:cs typeface="Arial"/>
                        </a:rPr>
                        <a:t>CSUV</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432</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1,65</a:t>
                      </a:r>
                    </a:p>
                  </a:txBody>
                  <a:tcPr marL="85725" marR="85725" marT="28575" marB="28575" anchor="ctr">
                    <a:solidFill>
                      <a:srgbClr val="FFFFFF"/>
                    </a:solidFill>
                  </a:tcPr>
                </a:tc>
              </a:tr>
              <a:tr h="452438">
                <a:tc>
                  <a:txBody>
                    <a:bodyPr/>
                    <a:lstStyle/>
                    <a:p>
                      <a:r>
                        <a:rPr sz="1875" b="0">
                          <a:solidFill>
                            <a:srgbClr val="102C3D"/>
                          </a:solidFill>
                          <a:latin typeface="Arial"/>
                          <a:ea typeface="Arial"/>
                          <a:cs typeface="Arial"/>
                        </a:rPr>
                        <a:t>MSUV</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548</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1,65</a:t>
                      </a:r>
                    </a:p>
                  </a:txBody>
                  <a:tcPr marL="85725" marR="85725" marT="28575" marB="28575" anchor="ctr">
                    <a:solidFill>
                      <a:srgbClr val="EAF2F3"/>
                    </a:solidFill>
                  </a:tcPr>
                </a:tc>
              </a:tr>
              <a:tr h="452438">
                <a:tc>
                  <a:txBody>
                    <a:bodyPr/>
                    <a:lstStyle/>
                    <a:p>
                      <a:r>
                        <a:rPr sz="1875" b="0">
                          <a:solidFill>
                            <a:srgbClr val="102C3D"/>
                          </a:solidFill>
                          <a:latin typeface="Arial"/>
                          <a:ea typeface="Arial"/>
                          <a:cs typeface="Arial"/>
                        </a:rPr>
                        <a:t>S</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37</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1,65</a:t>
                      </a:r>
                    </a:p>
                  </a:txBody>
                  <a:tcPr marL="85725" marR="85725" marT="28575" marB="285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3166DC9-51BF-4A99-8FDB-609230731A5E}"/>
              </a:ext>
            </a:extLst>
          </p:cNvPr>
          <p:cNvSpPr>
            <a:spLocks xmlns:a="http://schemas.openxmlformats.org/drawingml/2006/main" noGrp="1"/>
          </p:cNvSpPr>
          <p:nvPr/>
        </p:nvSpPr>
        <p:spPr>
          <a:xfrm xmlns:a="http://schemas.openxmlformats.org/drawingml/2006/main">
            <a:off x="7191375" y="1704975"/>
            <a:ext cx="433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3"/>
                </a:solidFill>
                <a:latin typeface="Arial"/>
                <a:ea typeface="Arial"/>
                <a:cs typeface="Arial"/>
              </a:defRPr>
            </a:defPPr>
          </a:lstStyle>
          <a:p xmlns:a="http://schemas.openxmlformats.org/drawingml/2006/main">
            <a:pPr>
              <a:defRPr sz="2325" b="1">
                <a:solidFill>
                  <a:srgbClr val="007F83"/>
                </a:solidFill>
                <a:latin typeface="Arial"/>
                <a:ea typeface="Arial"/>
                <a:cs typeface="Arial"/>
              </a:defRPr>
            </a:pPr>
            <a:r>
              <a:rPr sz="2325" b="1">
                <a:solidFill>
                  <a:srgbClr val="007F83"/>
                </a:solidFill>
                <a:latin typeface="Arial"/>
                <a:ea typeface="Arial"/>
                <a:cs typeface="Arial"/>
              </a:rPr>
              <a:t>150 SUV medios</a:t>
            </a:r>
          </a:p>
        </p:txBody>
      </p:sp>
      <p:sp>
        <p:nvSpPr>
          <p:cNvPr id="6" name="">
            <a:extLst xmlns:a="http://schemas.openxmlformats.org/drawingml/2006/main">
              <a:ext uri="{FF2B5EF4-FFF2-40B4-BE49-F238E27FC236}">
                <a16:creationId xmlns:a16="http://schemas.microsoft.com/office/drawing/2014/main" id="{1694E21A-4E61-4491-BE96-D8362E6550B0}"/>
              </a:ext>
            </a:extLst>
          </p:cNvPr>
          <p:cNvSpPr>
            <a:spLocks xmlns:a="http://schemas.openxmlformats.org/drawingml/2006/main" noGrp="1"/>
          </p:cNvSpPr>
          <p:nvPr/>
        </p:nvSpPr>
        <p:spPr>
          <a:xfrm xmlns:a="http://schemas.openxmlformats.org/drawingml/2006/main">
            <a:off x="7191375" y="2457450"/>
            <a:ext cx="4333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C3D"/>
                </a:solidFill>
                <a:latin typeface="Arial"/>
                <a:ea typeface="Arial"/>
                <a:cs typeface="Arial"/>
              </a:defRPr>
            </a:defPPr>
          </a:lstStyle>
          <a:p xmlns:a="http://schemas.openxmlformats.org/drawingml/2006/main">
            <a:pPr>
              <a:defRPr sz="2175" b="1">
                <a:solidFill>
                  <a:srgbClr val="102C3D"/>
                </a:solidFill>
                <a:latin typeface="Arial"/>
                <a:ea typeface="Arial"/>
                <a:cs typeface="Arial"/>
              </a:defRPr>
            </a:pPr>
            <a:r>
              <a:rPr sz="2175" b="1">
                <a:solidFill>
                  <a:srgbClr val="102C3D"/>
                </a:solidFill>
                <a:latin typeface="Arial"/>
                <a:ea typeface="Arial"/>
                <a:cs typeface="Arial"/>
              </a:rPr>
              <a:t>9.000 €</a:t>
            </a:r>
          </a:p>
          <a:p xmlns:a="http://schemas.openxmlformats.org/drawingml/2006/main">
            <a:pPr>
              <a:defRPr sz="2175" b="1">
                <a:solidFill>
                  <a:srgbClr val="102C3D"/>
                </a:solidFill>
                <a:latin typeface="Arial"/>
                <a:ea typeface="Arial"/>
                <a:cs typeface="Arial"/>
              </a:defRPr>
            </a:pPr>
            <a:r>
              <a:rPr sz="2175" b="1">
                <a:solidFill>
                  <a:srgbClr val="102C3D"/>
                </a:solidFill>
                <a:latin typeface="Arial"/>
                <a:ea typeface="Arial"/>
                <a:cs typeface="Arial"/>
              </a:rPr>
              <a:t>exceso durante un mes</a:t>
            </a:r>
          </a:p>
        </p:txBody>
      </p:sp>
      <p:sp>
        <p:nvSpPr>
          <p:cNvPr id="7" name="">
            <a:extLst xmlns:a="http://schemas.openxmlformats.org/drawingml/2006/main">
              <a:ext uri="{FF2B5EF4-FFF2-40B4-BE49-F238E27FC236}">
                <a16:creationId xmlns:a16="http://schemas.microsoft.com/office/drawing/2014/main" id="{251E77F4-14EA-4BC4-A65D-C5D0D5C80E88}"/>
              </a:ext>
            </a:extLst>
          </p:cNvPr>
          <p:cNvSpPr>
            <a:spLocks xmlns:a="http://schemas.openxmlformats.org/drawingml/2006/main" noGrp="1"/>
          </p:cNvSpPr>
          <p:nvPr/>
        </p:nvSpPr>
        <p:spPr>
          <a:xfrm xmlns:a="http://schemas.openxmlformats.org/drawingml/2006/main">
            <a:off x="7191375" y="3676650"/>
            <a:ext cx="43338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02C3D"/>
                </a:solidFill>
                <a:latin typeface="Arial"/>
                <a:ea typeface="Arial"/>
                <a:cs typeface="Arial"/>
              </a:defRPr>
            </a:defPPr>
          </a:lstStyle>
          <a:p xmlns:a="http://schemas.openxmlformats.org/drawingml/2006/main">
            <a:pPr>
              <a:defRPr sz="2175" b="1">
                <a:solidFill>
                  <a:srgbClr val="102C3D"/>
                </a:solidFill>
                <a:latin typeface="Arial"/>
                <a:ea typeface="Arial"/>
                <a:cs typeface="Arial"/>
              </a:defRPr>
            </a:pPr>
            <a:r>
              <a:rPr sz="2175" b="1">
                <a:solidFill>
                  <a:srgbClr val="102C3D"/>
                </a:solidFill>
                <a:latin typeface="Arial"/>
                <a:ea typeface="Arial"/>
                <a:cs typeface="Arial"/>
              </a:rPr>
              <a:t>233.460 €</a:t>
            </a:r>
          </a:p>
          <a:p xmlns:a="http://schemas.openxmlformats.org/drawingml/2006/main">
            <a:pPr>
              <a:defRPr sz="2175" b="1">
                <a:solidFill>
                  <a:srgbClr val="102C3D"/>
                </a:solidFill>
                <a:latin typeface="Arial"/>
                <a:ea typeface="Arial"/>
                <a:cs typeface="Arial"/>
              </a:defRPr>
            </a:pPr>
            <a:r>
              <a:rPr sz="2175" b="1">
                <a:solidFill>
                  <a:srgbClr val="102C3D"/>
                </a:solidFill>
                <a:latin typeface="Arial"/>
                <a:ea typeface="Arial"/>
                <a:cs typeface="Arial"/>
              </a:rPr>
              <a:t>transfer de las 150 unidades</a:t>
            </a:r>
          </a:p>
        </p:txBody>
      </p:sp>
      <p:sp>
        <p:nvSpPr>
          <p:cNvPr id="8" name="">
            <a:extLst xmlns:a="http://schemas.openxmlformats.org/drawingml/2006/main">
              <a:ext uri="{FF2B5EF4-FFF2-40B4-BE49-F238E27FC236}">
                <a16:creationId xmlns:a16="http://schemas.microsoft.com/office/drawing/2014/main" id="{D17F74BD-59EF-4672-9832-FD69777F8168}"/>
              </a:ext>
            </a:extLst>
          </p:cNvPr>
          <p:cNvSpPr>
            <a:spLocks xmlns:a="http://schemas.openxmlformats.org/drawingml/2006/main" noGrp="1"/>
          </p:cNvSpPr>
          <p:nvPr/>
        </p:nvSpPr>
        <p:spPr>
          <a:xfrm xmlns:a="http://schemas.openxmlformats.org/drawingml/2006/main">
            <a:off x="552450" y="571500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4"/>
                </a:solidFill>
                <a:latin typeface="Arial"/>
                <a:ea typeface="Arial"/>
                <a:cs typeface="Arial"/>
              </a:defRPr>
            </a:defPPr>
          </a:lstStyle>
          <a:p xmlns:a="http://schemas.openxmlformats.org/drawingml/2006/main">
            <a:pPr>
              <a:defRPr sz="1800" b="0">
                <a:solidFill>
                  <a:srgbClr val="526674"/>
                </a:solidFill>
                <a:latin typeface="Arial"/>
                <a:ea typeface="Arial"/>
                <a:cs typeface="Arial"/>
              </a:defRPr>
            </a:pPr>
            <a:r>
              <a:rPr sz="1800" b="0">
                <a:solidFill>
                  <a:srgbClr val="526674"/>
                </a:solidFill>
                <a:latin typeface="Arial"/>
                <a:ea typeface="Arial"/>
                <a:cs typeface="Arial"/>
              </a:rPr>
              <a:t>El transfer está limitado. La producción solo cambia la llegada de t + 3.</a:t>
            </a:r>
          </a:p>
        </p:txBody>
      </p:sp>
    </p:spTree>
    <p:extLst>
      <p:ext uri="{BB962C8B-B14F-4D97-AF65-F5344CB8AC3E}">
        <p14:creationId xmlns:p14="http://schemas.microsoft.com/office/powerpoint/2010/main" val="6746745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80F78E-E9F1-4AA6-8C6F-592AB97A6D44}"/>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El escenario pesimista deja una contribución negativa</a:t>
            </a:r>
          </a:p>
        </p:txBody>
      </p:sp>
      <p:sp>
        <p:nvSpPr>
          <p:cNvPr id="2" name="">
            <a:extLst xmlns:a="http://schemas.openxmlformats.org/drawingml/2006/main">
              <a:ext uri="{FF2B5EF4-FFF2-40B4-BE49-F238E27FC236}">
                <a16:creationId xmlns:a16="http://schemas.microsoft.com/office/drawing/2014/main" id="{B4370604-BE29-4B6E-9CA7-64F75A908A20}"/>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725E200E-0084-4D43-A218-C013108C5EB1}"/>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8</a:t>
            </a:r>
          </a:p>
        </p:txBody>
      </p:sp>
      <p:graphicFrame>
        <p:nvGraphicFramePr>
          <p:cNvPr id="4" name="">
            <a:extLst xmlns:a="http://schemas.openxmlformats.org/drawingml/2006/main">
              <a:ext uri="{FF2B5EF4-FFF2-40B4-BE49-F238E27FC236}">
                <a16:creationId xmlns:a16="http://schemas.microsoft.com/office/drawing/2014/main" id="{1BA29535-2AFA-4403-A16D-5D32ADBC3F7F}"/>
              </a:ext>
            </a:extLst>
          </p:cNvPr>
          <p:cNvGraphicFramePr/>
          <p:nvPr/>
        </p:nvGraphicFramePr>
        <p:xfrm>
          <a:off xmlns:a="http://schemas.openxmlformats.org/drawingml/2006/main" x="552450" y="1466850"/>
          <a:ext xmlns:a="http://schemas.openxmlformats.org/drawingml/2006/main" cx="11087100" cy="3952875"/>
        </p:xfrm>
        <a:graphic xmlns:a="http://schemas.openxmlformats.org/drawingml/2006/main">
          <a:graphicData uri="http://schemas.openxmlformats.org/drawingml/2006/table">
            <a:tbl>
              <a:tblPr/>
              <a:tblGrid>
                <a:gridCol w="4371975"/>
                <a:gridCol w="2238375"/>
                <a:gridCol w="2238375"/>
                <a:gridCol w="2238375"/>
              </a:tblGrid>
              <a:tr h="395288">
                <a:tc>
                  <a:txBody>
                    <a:bodyPr/>
                    <a:lstStyle/>
                    <a:p>
                      <a:r>
                        <a:rPr sz="1800" b="1">
                          <a:solidFill>
                            <a:srgbClr val="FFFFFF"/>
                          </a:solidFill>
                          <a:latin typeface="Arial"/>
                          <a:ea typeface="Arial"/>
                          <a:cs typeface="Arial"/>
                        </a:rPr>
                        <a:t>Resultado</a:t>
                      </a:r>
                    </a:p>
                  </a:txBody>
                  <a:tcPr marL="85725" marR="85725" marT="28575" marB="28575" anchor="ctr">
                    <a:solidFill>
                      <a:srgbClr val="102C3D"/>
                    </a:solidFill>
                  </a:tcPr>
                </a:tc>
                <a:tc>
                  <a:txBody>
                    <a:bodyPr/>
                    <a:lstStyle/>
                    <a:p>
                      <a:r>
                        <a:rPr sz="1800" b="1">
                          <a:solidFill>
                            <a:srgbClr val="FFFFFF"/>
                          </a:solidFill>
                          <a:latin typeface="Arial"/>
                          <a:ea typeface="Arial"/>
                          <a:cs typeface="Arial"/>
                        </a:rPr>
                        <a:t>Pesimista</a:t>
                      </a:r>
                    </a:p>
                  </a:txBody>
                  <a:tcPr marL="85725" marR="85725" marT="28575" marB="28575" anchor="ctr">
                    <a:solidFill>
                      <a:srgbClr val="102C3D"/>
                    </a:solidFill>
                  </a:tcPr>
                </a:tc>
                <a:tc>
                  <a:txBody>
                    <a:bodyPr/>
                    <a:lstStyle/>
                    <a:p>
                      <a:r>
                        <a:rPr sz="1800" b="1">
                          <a:solidFill>
                            <a:srgbClr val="FFFFFF"/>
                          </a:solidFill>
                          <a:latin typeface="Arial"/>
                          <a:ea typeface="Arial"/>
                          <a:cs typeface="Arial"/>
                        </a:rPr>
                        <a:t>Central</a:t>
                      </a:r>
                    </a:p>
                  </a:txBody>
                  <a:tcPr marL="85725" marR="85725" marT="28575" marB="28575" anchor="ctr">
                    <a:solidFill>
                      <a:srgbClr val="102C3D"/>
                    </a:solidFill>
                  </a:tcPr>
                </a:tc>
                <a:tc>
                  <a:txBody>
                    <a:bodyPr/>
                    <a:lstStyle/>
                    <a:p>
                      <a:r>
                        <a:rPr sz="1800" b="1">
                          <a:solidFill>
                            <a:srgbClr val="FFFFFF"/>
                          </a:solidFill>
                          <a:latin typeface="Arial"/>
                          <a:ea typeface="Arial"/>
                          <a:cs typeface="Arial"/>
                        </a:rPr>
                        <a:t>Optimista</a:t>
                      </a:r>
                    </a:p>
                  </a:txBody>
                  <a:tcPr marL="85725" marR="85725" marT="28575" marB="28575" anchor="ctr">
                    <a:solidFill>
                      <a:srgbClr val="102C3D"/>
                    </a:solidFill>
                  </a:tcPr>
                </a:tc>
              </a:tr>
              <a:tr h="395288">
                <a:tc>
                  <a:txBody>
                    <a:bodyPr/>
                    <a:lstStyle/>
                    <a:p>
                      <a:r>
                        <a:rPr sz="1800" b="0">
                          <a:solidFill>
                            <a:srgbClr val="102C3D"/>
                          </a:solidFill>
                          <a:latin typeface="Arial"/>
                          <a:ea typeface="Arial"/>
                          <a:cs typeface="Arial"/>
                        </a:rPr>
                        <a:t>Ventas</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19.315</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23.193</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28.663</a:t>
                      </a:r>
                    </a:p>
                  </a:txBody>
                  <a:tcPr marL="85725" marR="85725" marT="28575" marB="28575" anchor="ctr">
                    <a:solidFill>
                      <a:srgbClr val="FFFFFF"/>
                    </a:solidFill>
                  </a:tcPr>
                </a:tc>
              </a:tr>
              <a:tr h="395288">
                <a:tc>
                  <a:txBody>
                    <a:bodyPr/>
                    <a:lstStyle/>
                    <a:p>
                      <a:r>
                        <a:rPr sz="1800" b="0">
                          <a:solidFill>
                            <a:srgbClr val="102C3D"/>
                          </a:solidFill>
                          <a:latin typeface="Arial"/>
                          <a:ea typeface="Arial"/>
                          <a:cs typeface="Arial"/>
                        </a:rPr>
                        <a:t>Fabricación revisada</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17.836</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22.585</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29.532</a:t>
                      </a:r>
                    </a:p>
                  </a:txBody>
                  <a:tcPr marL="85725" marR="85725" marT="28575" marB="28575" anchor="ctr">
                    <a:solidFill>
                      <a:srgbClr val="EAF2F3"/>
                    </a:solidFill>
                  </a:tcPr>
                </a:tc>
              </a:tr>
              <a:tr h="395288">
                <a:tc>
                  <a:txBody>
                    <a:bodyPr/>
                    <a:lstStyle/>
                    <a:p>
                      <a:r>
                        <a:rPr sz="1800" b="0">
                          <a:solidFill>
                            <a:srgbClr val="102C3D"/>
                          </a:solidFill>
                          <a:latin typeface="Arial"/>
                          <a:ea typeface="Arial"/>
                          <a:cs typeface="Arial"/>
                        </a:rPr>
                        <a:t>Stock medio (u.)</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3577</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3463</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3397</a:t>
                      </a:r>
                    </a:p>
                  </a:txBody>
                  <a:tcPr marL="85725" marR="85725" marT="28575" marB="28575" anchor="ctr">
                    <a:solidFill>
                      <a:srgbClr val="FFFFFF"/>
                    </a:solidFill>
                  </a:tcPr>
                </a:tc>
              </a:tr>
              <a:tr h="395288">
                <a:tc>
                  <a:txBody>
                    <a:bodyPr/>
                    <a:lstStyle/>
                    <a:p>
                      <a:r>
                        <a:rPr sz="1800" b="0">
                          <a:solidFill>
                            <a:srgbClr val="102C3D"/>
                          </a:solidFill>
                          <a:latin typeface="Arial"/>
                          <a:ea typeface="Arial"/>
                          <a:cs typeface="Arial"/>
                        </a:rPr>
                        <a:t>Stock &gt;90 días al cierre (u.)</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88</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79</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57</a:t>
                      </a:r>
                    </a:p>
                  </a:txBody>
                  <a:tcPr marL="85725" marR="85725" marT="28575" marB="28575" anchor="ctr">
                    <a:solidFill>
                      <a:srgbClr val="EAF2F3"/>
                    </a:solidFill>
                  </a:tcPr>
                </a:tc>
              </a:tr>
              <a:tr h="395288">
                <a:tc>
                  <a:txBody>
                    <a:bodyPr/>
                    <a:lstStyle/>
                    <a:p>
                      <a:r>
                        <a:rPr sz="1800" b="0">
                          <a:solidFill>
                            <a:srgbClr val="102C3D"/>
                          </a:solidFill>
                          <a:latin typeface="Arial"/>
                          <a:ea typeface="Arial"/>
                          <a:cs typeface="Arial"/>
                        </a:rPr>
                        <a:t>Stock marca (M€)</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2,45</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2,43</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2,41</a:t>
                      </a:r>
                    </a:p>
                  </a:txBody>
                  <a:tcPr marL="85725" marR="85725" marT="28575" marB="28575" anchor="ctr">
                    <a:solidFill>
                      <a:srgbClr val="FFFFFF"/>
                    </a:solidFill>
                  </a:tcPr>
                </a:tc>
              </a:tr>
              <a:tr h="395288">
                <a:tc>
                  <a:txBody>
                    <a:bodyPr/>
                    <a:lstStyle/>
                    <a:p>
                      <a:r>
                        <a:rPr sz="1800" b="0">
                          <a:solidFill>
                            <a:srgbClr val="102C3D"/>
                          </a:solidFill>
                          <a:latin typeface="Arial"/>
                          <a:ea typeface="Arial"/>
                          <a:cs typeface="Arial"/>
                        </a:rPr>
                        <a:t>Ventas perdidas (u.)</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337</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456</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1212</a:t>
                      </a:r>
                    </a:p>
                  </a:txBody>
                  <a:tcPr marL="85725" marR="85725" marT="28575" marB="28575" anchor="ctr">
                    <a:solidFill>
                      <a:srgbClr val="EAF2F3"/>
                    </a:solidFill>
                  </a:tcPr>
                </a:tc>
              </a:tr>
              <a:tr h="395288">
                <a:tc>
                  <a:txBody>
                    <a:bodyPr/>
                    <a:lstStyle/>
                    <a:p>
                      <a:r>
                        <a:rPr sz="1800" b="0">
                          <a:solidFill>
                            <a:srgbClr val="102C3D"/>
                          </a:solidFill>
                          <a:latin typeface="Arial"/>
                          <a:ea typeface="Arial"/>
                          <a:cs typeface="Arial"/>
                        </a:rPr>
                        <a:t>Transfers (u.)</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0</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177</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581</a:t>
                      </a:r>
                    </a:p>
                  </a:txBody>
                  <a:tcPr marL="85725" marR="85725" marT="28575" marB="28575" anchor="ctr">
                    <a:solidFill>
                      <a:srgbClr val="FFFFFF"/>
                    </a:solidFill>
                  </a:tcPr>
                </a:tc>
              </a:tr>
              <a:tr h="395288">
                <a:tc>
                  <a:txBody>
                    <a:bodyPr/>
                    <a:lstStyle/>
                    <a:p>
                      <a:r>
                        <a:rPr sz="1800" b="0">
                          <a:solidFill>
                            <a:srgbClr val="102C3D"/>
                          </a:solidFill>
                          <a:latin typeface="Arial"/>
                          <a:ea typeface="Arial"/>
                          <a:cs typeface="Arial"/>
                        </a:rPr>
                        <a:t>VM (M€)</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41,49</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49,24</a:t>
                      </a:r>
                    </a:p>
                  </a:txBody>
                  <a:tcPr marL="85725" marR="85725" marT="28575" marB="28575" anchor="ctr">
                    <a:solidFill>
                      <a:srgbClr val="EAF2F3"/>
                    </a:solidFill>
                  </a:tcPr>
                </a:tc>
                <a:tc>
                  <a:txBody>
                    <a:bodyPr/>
                    <a:lstStyle/>
                    <a:p>
                      <a:r>
                        <a:rPr sz="1800" b="0">
                          <a:solidFill>
                            <a:srgbClr val="102C3D"/>
                          </a:solidFill>
                          <a:latin typeface="Arial"/>
                          <a:ea typeface="Arial"/>
                          <a:cs typeface="Arial"/>
                        </a:rPr>
                        <a:t>60,19</a:t>
                      </a:r>
                    </a:p>
                  </a:txBody>
                  <a:tcPr marL="85725" marR="85725" marT="28575" marB="28575" anchor="ctr">
                    <a:solidFill>
                      <a:srgbClr val="EAF2F3"/>
                    </a:solidFill>
                  </a:tcPr>
                </a:tc>
              </a:tr>
              <a:tr h="395288">
                <a:tc>
                  <a:txBody>
                    <a:bodyPr/>
                    <a:lstStyle/>
                    <a:p>
                      <a:r>
                        <a:rPr sz="1800" b="0">
                          <a:solidFill>
                            <a:srgbClr val="102C3D"/>
                          </a:solidFill>
                          <a:latin typeface="Arial"/>
                          <a:ea typeface="Arial"/>
                          <a:cs typeface="Arial"/>
                        </a:rPr>
                        <a:t>CVP neto (M€)</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-5,88</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79,88</a:t>
                      </a:r>
                    </a:p>
                  </a:txBody>
                  <a:tcPr marL="85725" marR="85725" marT="28575" marB="28575" anchor="ctr">
                    <a:solidFill>
                      <a:srgbClr val="FFFFFF"/>
                    </a:solidFill>
                  </a:tcPr>
                </a:tc>
                <a:tc>
                  <a:txBody>
                    <a:bodyPr/>
                    <a:lstStyle/>
                    <a:p>
                      <a:r>
                        <a:rPr sz="1800" b="0">
                          <a:solidFill>
                            <a:srgbClr val="102C3D"/>
                          </a:solidFill>
                          <a:latin typeface="Arial"/>
                          <a:ea typeface="Arial"/>
                          <a:cs typeface="Arial"/>
                        </a:rPr>
                        <a:t>102,81</a:t>
                      </a:r>
                    </a:p>
                  </a:txBody>
                  <a:tcPr marL="85725" marR="85725" marT="28575" marB="285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18F5A8E-9B63-4BDB-AEAD-EB362A345072}"/>
              </a:ext>
            </a:extLst>
          </p:cNvPr>
          <p:cNvSpPr>
            <a:spLocks xmlns:a="http://schemas.openxmlformats.org/drawingml/2006/main" noGrp="1"/>
          </p:cNvSpPr>
          <p:nvPr/>
        </p:nvSpPr>
        <p:spPr>
          <a:xfrm xmlns:a="http://schemas.openxmlformats.org/drawingml/2006/main">
            <a:off x="552450" y="5838825"/>
            <a:ext cx="11087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4"/>
                </a:solidFill>
                <a:latin typeface="Arial"/>
                <a:ea typeface="Arial"/>
                <a:cs typeface="Arial"/>
              </a:defRPr>
            </a:defPPr>
          </a:lstStyle>
          <a:p xmlns:a="http://schemas.openxmlformats.org/drawingml/2006/main">
            <a:pPr>
              <a:defRPr sz="1725" b="0">
                <a:solidFill>
                  <a:srgbClr val="526674"/>
                </a:solidFill>
                <a:latin typeface="Arial"/>
                <a:ea typeface="Arial"/>
                <a:cs typeface="Arial"/>
              </a:defRPr>
            </a:pPr>
            <a:r>
              <a:rPr sz="1725" b="0">
                <a:solidFill>
                  <a:srgbClr val="526674"/>
                </a:solidFill>
                <a:latin typeface="Arial"/>
                <a:ea typeface="Arial"/>
                <a:cs typeface="Arial"/>
              </a:rPr>
              <a:t>Medias de 1.000 simulaciones. CVP después de VM, stock, transfer, CO2 y arancel.</a:t>
            </a:r>
          </a:p>
        </p:txBody>
      </p:sp>
    </p:spTree>
    <p:extLst>
      <p:ext uri="{BB962C8B-B14F-4D97-AF65-F5344CB8AC3E}">
        <p14:creationId xmlns:p14="http://schemas.microsoft.com/office/powerpoint/2010/main" val="149932754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0CE7C4-4692-4ABC-85E1-DE8FA33EBF4E}"/>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MSUV y CSUV concentran la contribución</a:t>
            </a:r>
          </a:p>
        </p:txBody>
      </p:sp>
      <p:sp>
        <p:nvSpPr>
          <p:cNvPr id="2" name="">
            <a:extLst xmlns:a="http://schemas.openxmlformats.org/drawingml/2006/main">
              <a:ext uri="{FF2B5EF4-FFF2-40B4-BE49-F238E27FC236}">
                <a16:creationId xmlns:a16="http://schemas.microsoft.com/office/drawing/2014/main" id="{1BC1C70A-2EF6-4B6D-B67C-3653A83E01C3}"/>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C4865AF0-3B68-46C4-BF5E-FACEBF5C839D}"/>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BE7F8DAB-B1B4-4E69-974F-47E21900278B}"/>
              </a:ext>
            </a:extLst>
          </p:cNvPr>
          <p:cNvGraphicFramePr/>
          <p:nvPr/>
        </p:nvGraphicFramePr>
        <p:xfrm>
          <a:off xmlns:a="http://schemas.openxmlformats.org/drawingml/2006/main" x="552450" y="1552575"/>
          <a:ext xmlns:a="http://schemas.openxmlformats.org/drawingml/2006/main" cx="11087100" cy="3467100"/>
        </p:xfrm>
        <a:graphic xmlns:a="http://schemas.openxmlformats.org/drawingml/2006/main">
          <a:graphicData uri="http://schemas.openxmlformats.org/drawingml/2006/table">
            <a:tbl>
              <a:tblPr/>
              <a:tblGrid>
                <a:gridCol w="2952750"/>
                <a:gridCol w="4067175"/>
                <a:gridCol w="4067175"/>
              </a:tblGrid>
              <a:tr h="433388">
                <a:tc>
                  <a:txBody>
                    <a:bodyPr/>
                    <a:lstStyle/>
                    <a:p>
                      <a:r>
                        <a:rPr sz="1950" b="1">
                          <a:solidFill>
                            <a:srgbClr val="FFFFFF"/>
                          </a:solidFill>
                          <a:latin typeface="Arial"/>
                          <a:ea typeface="Arial"/>
                          <a:cs typeface="Arial"/>
                        </a:rPr>
                        <a:t>Segmento</a:t>
                      </a:r>
                    </a:p>
                  </a:txBody>
                  <a:tcPr marL="85725" marR="85725" marT="28575" marB="28575" anchor="ctr">
                    <a:solidFill>
                      <a:srgbClr val="102C3D"/>
                    </a:solidFill>
                  </a:tcPr>
                </a:tc>
                <a:tc>
                  <a:txBody>
                    <a:bodyPr/>
                    <a:lstStyle/>
                    <a:p>
                      <a:r>
                        <a:rPr sz="1950" b="1">
                          <a:solidFill>
                            <a:srgbClr val="FFFFFF"/>
                          </a:solidFill>
                          <a:latin typeface="Arial"/>
                          <a:ea typeface="Arial"/>
                          <a:cs typeface="Arial"/>
                        </a:rPr>
                        <a:t>CVP central (M€)</a:t>
                      </a:r>
                    </a:p>
                  </a:txBody>
                  <a:tcPr marL="85725" marR="85725" marT="28575" marB="28575" anchor="ctr">
                    <a:solidFill>
                      <a:srgbClr val="102C3D"/>
                    </a:solidFill>
                  </a:tcPr>
                </a:tc>
                <a:tc>
                  <a:txBody>
                    <a:bodyPr/>
                    <a:lstStyle/>
                    <a:p>
                      <a:r>
                        <a:rPr sz="1950" b="1">
                          <a:solidFill>
                            <a:srgbClr val="FFFFFF"/>
                          </a:solidFill>
                          <a:latin typeface="Arial"/>
                          <a:ea typeface="Arial"/>
                          <a:cs typeface="Arial"/>
                        </a:rPr>
                        <a:t>CVP pesimista (M€)</a:t>
                      </a:r>
                    </a:p>
                  </a:txBody>
                  <a:tcPr marL="85725" marR="85725" marT="28575" marB="28575" anchor="ctr">
                    <a:solidFill>
                      <a:srgbClr val="102C3D"/>
                    </a:solidFill>
                  </a:tcPr>
                </a:tc>
              </a:tr>
              <a:tr h="433388">
                <a:tc>
                  <a:txBody>
                    <a:bodyPr/>
                    <a:lstStyle/>
                    <a:p>
                      <a:r>
                        <a:rPr sz="1950" b="0">
                          <a:solidFill>
                            <a:srgbClr val="102C3D"/>
                          </a:solidFill>
                          <a:latin typeface="Arial"/>
                          <a:ea typeface="Arial"/>
                          <a:cs typeface="Arial"/>
                        </a:rPr>
                        <a:t>B</a:t>
                      </a:r>
                    </a:p>
                  </a:txBody>
                  <a:tcPr marL="85725" marR="85725" marT="28575" marB="28575" anchor="ctr">
                    <a:solidFill>
                      <a:srgbClr val="FFFFFF"/>
                    </a:solidFill>
                  </a:tcPr>
                </a:tc>
                <a:tc>
                  <a:txBody>
                    <a:bodyPr/>
                    <a:lstStyle/>
                    <a:p>
                      <a:r>
                        <a:rPr sz="1950" b="0">
                          <a:solidFill>
                            <a:srgbClr val="102C3D"/>
                          </a:solidFill>
                          <a:latin typeface="Arial"/>
                          <a:ea typeface="Arial"/>
                          <a:cs typeface="Arial"/>
                        </a:rPr>
                        <a:t>0,09</a:t>
                      </a:r>
                    </a:p>
                  </a:txBody>
                  <a:tcPr marL="85725" marR="85725" marT="28575" marB="28575" anchor="ctr">
                    <a:solidFill>
                      <a:srgbClr val="FFFFFF"/>
                    </a:solidFill>
                  </a:tcPr>
                </a:tc>
                <a:tc>
                  <a:txBody>
                    <a:bodyPr/>
                    <a:lstStyle/>
                    <a:p>
                      <a:r>
                        <a:rPr sz="1950" b="0">
                          <a:solidFill>
                            <a:srgbClr val="102C3D"/>
                          </a:solidFill>
                          <a:latin typeface="Arial"/>
                          <a:ea typeface="Arial"/>
                          <a:cs typeface="Arial"/>
                        </a:rPr>
                        <a:t>-3,93</a:t>
                      </a:r>
                    </a:p>
                  </a:txBody>
                  <a:tcPr marL="85725" marR="85725" marT="28575" marB="28575" anchor="ctr">
                    <a:solidFill>
                      <a:srgbClr val="FFFFFF"/>
                    </a:solidFill>
                  </a:tcPr>
                </a:tc>
              </a:tr>
              <a:tr h="433388">
                <a:tc>
                  <a:txBody>
                    <a:bodyPr/>
                    <a:lstStyle/>
                    <a:p>
                      <a:r>
                        <a:rPr sz="1950" b="0">
                          <a:solidFill>
                            <a:srgbClr val="102C3D"/>
                          </a:solidFill>
                          <a:latin typeface="Arial"/>
                          <a:ea typeface="Arial"/>
                          <a:cs typeface="Arial"/>
                        </a:rPr>
                        <a:t>C</a:t>
                      </a:r>
                    </a:p>
                  </a:txBody>
                  <a:tcPr marL="85725" marR="85725" marT="28575" marB="28575" anchor="ctr">
                    <a:solidFill>
                      <a:srgbClr val="EAF2F3"/>
                    </a:solidFill>
                  </a:tcPr>
                </a:tc>
                <a:tc>
                  <a:txBody>
                    <a:bodyPr/>
                    <a:lstStyle/>
                    <a:p>
                      <a:r>
                        <a:rPr sz="1950" b="0">
                          <a:solidFill>
                            <a:srgbClr val="102C3D"/>
                          </a:solidFill>
                          <a:latin typeface="Arial"/>
                          <a:ea typeface="Arial"/>
                          <a:cs typeface="Arial"/>
                        </a:rPr>
                        <a:t>3,36</a:t>
                      </a:r>
                    </a:p>
                  </a:txBody>
                  <a:tcPr marL="85725" marR="85725" marT="28575" marB="28575" anchor="ctr">
                    <a:solidFill>
                      <a:srgbClr val="EAF2F3"/>
                    </a:solidFill>
                  </a:tcPr>
                </a:tc>
                <a:tc>
                  <a:txBody>
                    <a:bodyPr/>
                    <a:lstStyle/>
                    <a:p>
                      <a:r>
                        <a:rPr sz="1950" b="0">
                          <a:solidFill>
                            <a:srgbClr val="102C3D"/>
                          </a:solidFill>
                          <a:latin typeface="Arial"/>
                          <a:ea typeface="Arial"/>
                          <a:cs typeface="Arial"/>
                        </a:rPr>
                        <a:t>-5,89</a:t>
                      </a:r>
                    </a:p>
                  </a:txBody>
                  <a:tcPr marL="85725" marR="85725" marT="28575" marB="28575" anchor="ctr">
                    <a:solidFill>
                      <a:srgbClr val="EAF2F3"/>
                    </a:solidFill>
                  </a:tcPr>
                </a:tc>
              </a:tr>
              <a:tr h="433388">
                <a:tc>
                  <a:txBody>
                    <a:bodyPr/>
                    <a:lstStyle/>
                    <a:p>
                      <a:r>
                        <a:rPr sz="1950" b="0">
                          <a:solidFill>
                            <a:srgbClr val="102C3D"/>
                          </a:solidFill>
                          <a:latin typeface="Arial"/>
                          <a:ea typeface="Arial"/>
                          <a:cs typeface="Arial"/>
                        </a:rPr>
                        <a:t>MD</a:t>
                      </a:r>
                    </a:p>
                  </a:txBody>
                  <a:tcPr marL="85725" marR="85725" marT="28575" marB="28575" anchor="ctr">
                    <a:solidFill>
                      <a:srgbClr val="FFFFFF"/>
                    </a:solidFill>
                  </a:tcPr>
                </a:tc>
                <a:tc>
                  <a:txBody>
                    <a:bodyPr/>
                    <a:lstStyle/>
                    <a:p>
                      <a:r>
                        <a:rPr sz="1950" b="0">
                          <a:solidFill>
                            <a:srgbClr val="102C3D"/>
                          </a:solidFill>
                          <a:latin typeface="Arial"/>
                          <a:ea typeface="Arial"/>
                          <a:cs typeface="Arial"/>
                        </a:rPr>
                        <a:t>1,61</a:t>
                      </a:r>
                    </a:p>
                  </a:txBody>
                  <a:tcPr marL="85725" marR="85725" marT="28575" marB="28575" anchor="ctr">
                    <a:solidFill>
                      <a:srgbClr val="FFFFFF"/>
                    </a:solidFill>
                  </a:tcPr>
                </a:tc>
                <a:tc>
                  <a:txBody>
                    <a:bodyPr/>
                    <a:lstStyle/>
                    <a:p>
                      <a:r>
                        <a:rPr sz="1950" b="0">
                          <a:solidFill>
                            <a:srgbClr val="102C3D"/>
                          </a:solidFill>
                          <a:latin typeface="Arial"/>
                          <a:ea typeface="Arial"/>
                          <a:cs typeface="Arial"/>
                        </a:rPr>
                        <a:t>0,27</a:t>
                      </a:r>
                    </a:p>
                  </a:txBody>
                  <a:tcPr marL="85725" marR="85725" marT="28575" marB="28575" anchor="ctr">
                    <a:solidFill>
                      <a:srgbClr val="FFFFFF"/>
                    </a:solidFill>
                  </a:tcPr>
                </a:tc>
              </a:tr>
              <a:tr h="433388">
                <a:tc>
                  <a:txBody>
                    <a:bodyPr/>
                    <a:lstStyle/>
                    <a:p>
                      <a:r>
                        <a:rPr sz="1950" b="0">
                          <a:solidFill>
                            <a:srgbClr val="102C3D"/>
                          </a:solidFill>
                          <a:latin typeface="Arial"/>
                          <a:ea typeface="Arial"/>
                          <a:cs typeface="Arial"/>
                        </a:rPr>
                        <a:t>SSUV</a:t>
                      </a:r>
                    </a:p>
                  </a:txBody>
                  <a:tcPr marL="85725" marR="85725" marT="28575" marB="28575" anchor="ctr">
                    <a:solidFill>
                      <a:srgbClr val="EAF2F3"/>
                    </a:solidFill>
                  </a:tcPr>
                </a:tc>
                <a:tc>
                  <a:txBody>
                    <a:bodyPr/>
                    <a:lstStyle/>
                    <a:p>
                      <a:r>
                        <a:rPr sz="1950" b="0">
                          <a:solidFill>
                            <a:srgbClr val="102C3D"/>
                          </a:solidFill>
                          <a:latin typeface="Arial"/>
                          <a:ea typeface="Arial"/>
                          <a:cs typeface="Arial"/>
                        </a:rPr>
                        <a:t>18,47</a:t>
                      </a:r>
                    </a:p>
                  </a:txBody>
                  <a:tcPr marL="85725" marR="85725" marT="28575" marB="28575" anchor="ctr">
                    <a:solidFill>
                      <a:srgbClr val="EAF2F3"/>
                    </a:solidFill>
                  </a:tcPr>
                </a:tc>
                <a:tc>
                  <a:txBody>
                    <a:bodyPr/>
                    <a:lstStyle/>
                    <a:p>
                      <a:r>
                        <a:rPr sz="1950" b="0">
                          <a:solidFill>
                            <a:srgbClr val="102C3D"/>
                          </a:solidFill>
                          <a:latin typeface="Arial"/>
                          <a:ea typeface="Arial"/>
                          <a:cs typeface="Arial"/>
                        </a:rPr>
                        <a:t>-3,27</a:t>
                      </a:r>
                    </a:p>
                  </a:txBody>
                  <a:tcPr marL="85725" marR="85725" marT="28575" marB="28575" anchor="ctr">
                    <a:solidFill>
                      <a:srgbClr val="EAF2F3"/>
                    </a:solidFill>
                  </a:tcPr>
                </a:tc>
              </a:tr>
              <a:tr h="433388">
                <a:tc>
                  <a:txBody>
                    <a:bodyPr/>
                    <a:lstStyle/>
                    <a:p>
                      <a:r>
                        <a:rPr sz="1950" b="0">
                          <a:solidFill>
                            <a:srgbClr val="102C3D"/>
                          </a:solidFill>
                          <a:latin typeface="Arial"/>
                          <a:ea typeface="Arial"/>
                          <a:cs typeface="Arial"/>
                        </a:rPr>
                        <a:t>CSUV</a:t>
                      </a:r>
                    </a:p>
                  </a:txBody>
                  <a:tcPr marL="85725" marR="85725" marT="28575" marB="28575" anchor="ctr">
                    <a:solidFill>
                      <a:srgbClr val="FFFFFF"/>
                    </a:solidFill>
                  </a:tcPr>
                </a:tc>
                <a:tc>
                  <a:txBody>
                    <a:bodyPr/>
                    <a:lstStyle/>
                    <a:p>
                      <a:r>
                        <a:rPr sz="1950" b="0">
                          <a:solidFill>
                            <a:srgbClr val="102C3D"/>
                          </a:solidFill>
                          <a:latin typeface="Arial"/>
                          <a:ea typeface="Arial"/>
                          <a:cs typeface="Arial"/>
                        </a:rPr>
                        <a:t>11,57</a:t>
                      </a:r>
                    </a:p>
                  </a:txBody>
                  <a:tcPr marL="85725" marR="85725" marT="28575" marB="28575" anchor="ctr">
                    <a:solidFill>
                      <a:srgbClr val="FFFFFF"/>
                    </a:solidFill>
                  </a:tcPr>
                </a:tc>
                <a:tc>
                  <a:txBody>
                    <a:bodyPr/>
                    <a:lstStyle/>
                    <a:p>
                      <a:r>
                        <a:rPr sz="1950" b="0">
                          <a:solidFill>
                            <a:srgbClr val="102C3D"/>
                          </a:solidFill>
                          <a:latin typeface="Arial"/>
                          <a:ea typeface="Arial"/>
                          <a:cs typeface="Arial"/>
                        </a:rPr>
                        <a:t>1,86</a:t>
                      </a:r>
                    </a:p>
                  </a:txBody>
                  <a:tcPr marL="85725" marR="85725" marT="28575" marB="28575" anchor="ctr">
                    <a:solidFill>
                      <a:srgbClr val="FFFFFF"/>
                    </a:solidFill>
                  </a:tcPr>
                </a:tc>
              </a:tr>
              <a:tr h="433388">
                <a:tc>
                  <a:txBody>
                    <a:bodyPr/>
                    <a:lstStyle/>
                    <a:p>
                      <a:r>
                        <a:rPr sz="1950" b="0">
                          <a:solidFill>
                            <a:srgbClr val="102C3D"/>
                          </a:solidFill>
                          <a:latin typeface="Arial"/>
                          <a:ea typeface="Arial"/>
                          <a:cs typeface="Arial"/>
                        </a:rPr>
                        <a:t>MSUV</a:t>
                      </a:r>
                    </a:p>
                  </a:txBody>
                  <a:tcPr marL="85725" marR="85725" marT="28575" marB="28575" anchor="ctr">
                    <a:solidFill>
                      <a:srgbClr val="EAF2F3"/>
                    </a:solidFill>
                  </a:tcPr>
                </a:tc>
                <a:tc>
                  <a:txBody>
                    <a:bodyPr/>
                    <a:lstStyle/>
                    <a:p>
                      <a:r>
                        <a:rPr sz="1950" b="0">
                          <a:solidFill>
                            <a:srgbClr val="102C3D"/>
                          </a:solidFill>
                          <a:latin typeface="Arial"/>
                          <a:ea typeface="Arial"/>
                          <a:cs typeface="Arial"/>
                        </a:rPr>
                        <a:t>42,26</a:t>
                      </a:r>
                    </a:p>
                  </a:txBody>
                  <a:tcPr marL="85725" marR="85725" marT="28575" marB="28575" anchor="ctr">
                    <a:solidFill>
                      <a:srgbClr val="EAF2F3"/>
                    </a:solidFill>
                  </a:tcPr>
                </a:tc>
                <a:tc>
                  <a:txBody>
                    <a:bodyPr/>
                    <a:lstStyle/>
                    <a:p>
                      <a:r>
                        <a:rPr sz="1950" b="0">
                          <a:solidFill>
                            <a:srgbClr val="102C3D"/>
                          </a:solidFill>
                          <a:latin typeface="Arial"/>
                          <a:ea typeface="Arial"/>
                          <a:cs typeface="Arial"/>
                        </a:rPr>
                        <a:t>5,23</a:t>
                      </a:r>
                    </a:p>
                  </a:txBody>
                  <a:tcPr marL="85725" marR="85725" marT="28575" marB="28575" anchor="ctr">
                    <a:solidFill>
                      <a:srgbClr val="EAF2F3"/>
                    </a:solidFill>
                  </a:tcPr>
                </a:tc>
              </a:tr>
              <a:tr h="433388">
                <a:tc>
                  <a:txBody>
                    <a:bodyPr/>
                    <a:lstStyle/>
                    <a:p>
                      <a:r>
                        <a:rPr sz="1950" b="0">
                          <a:solidFill>
                            <a:srgbClr val="102C3D"/>
                          </a:solidFill>
                          <a:latin typeface="Arial"/>
                          <a:ea typeface="Arial"/>
                          <a:cs typeface="Arial"/>
                        </a:rPr>
                        <a:t>S</a:t>
                      </a:r>
                    </a:p>
                  </a:txBody>
                  <a:tcPr marL="85725" marR="85725" marT="28575" marB="28575" anchor="ctr">
                    <a:solidFill>
                      <a:srgbClr val="FFFFFF"/>
                    </a:solidFill>
                  </a:tcPr>
                </a:tc>
                <a:tc>
                  <a:txBody>
                    <a:bodyPr/>
                    <a:lstStyle/>
                    <a:p>
                      <a:r>
                        <a:rPr sz="1950" b="0">
                          <a:solidFill>
                            <a:srgbClr val="102C3D"/>
                          </a:solidFill>
                          <a:latin typeface="Arial"/>
                          <a:ea typeface="Arial"/>
                          <a:cs typeface="Arial"/>
                        </a:rPr>
                        <a:t>2,52</a:t>
                      </a:r>
                    </a:p>
                  </a:txBody>
                  <a:tcPr marL="85725" marR="85725" marT="28575" marB="28575" anchor="ctr">
                    <a:solidFill>
                      <a:srgbClr val="FFFFFF"/>
                    </a:solidFill>
                  </a:tcPr>
                </a:tc>
                <a:tc>
                  <a:txBody>
                    <a:bodyPr/>
                    <a:lstStyle/>
                    <a:p>
                      <a:r>
                        <a:rPr sz="1950" b="0">
                          <a:solidFill>
                            <a:srgbClr val="102C3D"/>
                          </a:solidFill>
                          <a:latin typeface="Arial"/>
                          <a:ea typeface="Arial"/>
                          <a:cs typeface="Arial"/>
                        </a:rPr>
                        <a:t>-0,15</a:t>
                      </a:r>
                    </a:p>
                  </a:txBody>
                  <a:tcPr marL="85725" marR="85725" marT="28575" marB="285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ED1762C-7508-4F69-9F0F-B92D4DD4B970}"/>
              </a:ext>
            </a:extLst>
          </p:cNvPr>
          <p:cNvSpPr>
            <a:spLocks xmlns:a="http://schemas.openxmlformats.org/drawingml/2006/main" noGrp="1"/>
          </p:cNvSpPr>
          <p:nvPr/>
        </p:nvSpPr>
        <p:spPr>
          <a:xfrm xmlns:a="http://schemas.openxmlformats.org/drawingml/2006/main">
            <a:off x="552450" y="55435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AC493F"/>
                </a:solidFill>
                <a:latin typeface="Arial"/>
                <a:ea typeface="Arial"/>
                <a:cs typeface="Arial"/>
              </a:defRPr>
            </a:defPPr>
          </a:lstStyle>
          <a:p xmlns:a="http://schemas.openxmlformats.org/drawingml/2006/main">
            <a:pPr>
              <a:defRPr sz="1950" b="1">
                <a:solidFill>
                  <a:srgbClr val="AC493F"/>
                </a:solidFill>
                <a:latin typeface="Arial"/>
                <a:ea typeface="Arial"/>
                <a:cs typeface="Arial"/>
              </a:defRPr>
            </a:pPr>
            <a:r>
              <a:rPr sz="1950" b="1">
                <a:solidFill>
                  <a:srgbClr val="AC493F"/>
                </a:solidFill>
                <a:latin typeface="Arial"/>
                <a:ea typeface="Arial"/>
                <a:cs typeface="Arial"/>
              </a:rPr>
              <a:t>Con CO2 y arancel: veto propuesto a nuevos pedidos deficitarios B, C, SSUV y S.</a:t>
            </a:r>
          </a:p>
        </p:txBody>
      </p:sp>
    </p:spTree>
    <p:extLst>
      <p:ext uri="{BB962C8B-B14F-4D97-AF65-F5344CB8AC3E}">
        <p14:creationId xmlns:p14="http://schemas.microsoft.com/office/powerpoint/2010/main" val="16588088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9ED964-EB88-4CCE-8591-690D2D8031D0}"/>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La aprobación requiere revisión mensual</a:t>
            </a:r>
          </a:p>
        </p:txBody>
      </p:sp>
      <p:sp>
        <p:nvSpPr>
          <p:cNvPr id="2" name="">
            <a:extLst xmlns:a="http://schemas.openxmlformats.org/drawingml/2006/main">
              <a:ext uri="{FF2B5EF4-FFF2-40B4-BE49-F238E27FC236}">
                <a16:creationId xmlns:a16="http://schemas.microsoft.com/office/drawing/2014/main" id="{3EBF56A2-B952-4CA6-B44C-03262EF885A2}"/>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Kaido Motors España · A013</a:t>
            </a:r>
          </a:p>
        </p:txBody>
      </p:sp>
      <p:sp>
        <p:nvSpPr>
          <p:cNvPr id="3" name="">
            <a:extLst xmlns:a="http://schemas.openxmlformats.org/drawingml/2006/main">
              <a:ext uri="{FF2B5EF4-FFF2-40B4-BE49-F238E27FC236}">
                <a16:creationId xmlns:a16="http://schemas.microsoft.com/office/drawing/2014/main" id="{2800B607-2446-48A1-9F70-E58363B073A5}"/>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AE263553-4EF9-4240-96CD-B53633A36B2C}"/>
              </a:ext>
            </a:extLst>
          </p:cNvPr>
          <p:cNvSpPr>
            <a:spLocks xmlns:a="http://schemas.openxmlformats.org/drawingml/2006/main" noGrp="1"/>
          </p:cNvSpPr>
          <p:nvPr/>
        </p:nvSpPr>
        <p:spPr>
          <a:xfrm xmlns:a="http://schemas.openxmlformats.org/drawingml/2006/main">
            <a:off x="552450" y="16859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007F83"/>
                </a:solidFill>
                <a:latin typeface="Arial"/>
                <a:ea typeface="Arial"/>
                <a:cs typeface="Arial"/>
              </a:defRPr>
            </a:defPPr>
          </a:lstStyle>
          <a:p xmlns:a="http://schemas.openxmlformats.org/drawingml/2006/main">
            <a:pPr>
              <a:defRPr sz="3525" b="1">
                <a:solidFill>
                  <a:srgbClr val="007F83"/>
                </a:solidFill>
                <a:latin typeface="Arial"/>
                <a:ea typeface="Arial"/>
                <a:cs typeface="Arial"/>
              </a:defRPr>
            </a:pPr>
            <a:r>
              <a:rPr sz="3525" b="1">
                <a:solidFill>
                  <a:srgbClr val="007F83"/>
                </a:solidFill>
                <a:latin typeface="Arial"/>
                <a:ea typeface="Arial"/>
                <a:cs typeface="Arial"/>
              </a:rPr>
              <a:t>20.406 a 26.336 ventas</a:t>
            </a:r>
          </a:p>
        </p:txBody>
      </p:sp>
      <p:sp>
        <p:nvSpPr>
          <p:cNvPr id="5" name="">
            <a:extLst xmlns:a="http://schemas.openxmlformats.org/drawingml/2006/main">
              <a:ext uri="{FF2B5EF4-FFF2-40B4-BE49-F238E27FC236}">
                <a16:creationId xmlns:a16="http://schemas.microsoft.com/office/drawing/2014/main" id="{A74FC57C-744E-48F4-889C-79AD3D8132E4}"/>
              </a:ext>
            </a:extLst>
          </p:cNvPr>
          <p:cNvSpPr>
            <a:spLocks xmlns:a="http://schemas.openxmlformats.org/drawingml/2006/main" noGrp="1"/>
          </p:cNvSpPr>
          <p:nvPr/>
        </p:nvSpPr>
        <p:spPr>
          <a:xfrm xmlns:a="http://schemas.openxmlformats.org/drawingml/2006/main">
            <a:off x="552450" y="2381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6674"/>
                </a:solidFill>
                <a:latin typeface="Arial"/>
                <a:ea typeface="Arial"/>
                <a:cs typeface="Arial"/>
              </a:defRPr>
            </a:defPPr>
          </a:lstStyle>
          <a:p xmlns:a="http://schemas.openxmlformats.org/drawingml/2006/main">
            <a:pPr>
              <a:defRPr sz="2100" b="0">
                <a:solidFill>
                  <a:srgbClr val="526674"/>
                </a:solidFill>
                <a:latin typeface="Arial"/>
                <a:ea typeface="Arial"/>
                <a:cs typeface="Arial"/>
              </a:defRPr>
            </a:pPr>
            <a:r>
              <a:rPr sz="2100" b="0">
                <a:solidFill>
                  <a:srgbClr val="526674"/>
                </a:solidFill>
                <a:latin typeface="Arial"/>
                <a:ea typeface="Arial"/>
                <a:cs typeface="Arial"/>
              </a:rPr>
              <a:t>Intervalo P5-P95 del escenario central</a:t>
            </a:r>
          </a:p>
        </p:txBody>
      </p:sp>
      <p:sp>
        <p:nvSpPr>
          <p:cNvPr id="6" name="">
            <a:extLst xmlns:a="http://schemas.openxmlformats.org/drawingml/2006/main">
              <a:ext uri="{FF2B5EF4-FFF2-40B4-BE49-F238E27FC236}">
                <a16:creationId xmlns:a16="http://schemas.microsoft.com/office/drawing/2014/main" id="{844631CC-0925-4FB6-99DB-3C06952AFA44}"/>
              </a:ext>
            </a:extLst>
          </p:cNvPr>
          <p:cNvSpPr>
            <a:spLocks xmlns:a="http://schemas.openxmlformats.org/drawingml/2006/main" noGrp="1"/>
          </p:cNvSpPr>
          <p:nvPr/>
        </p:nvSpPr>
        <p:spPr>
          <a:xfrm xmlns:a="http://schemas.openxmlformats.org/drawingml/2006/main">
            <a:off x="552450" y="33147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02C3D"/>
                </a:solidFill>
                <a:latin typeface="Arial"/>
                <a:ea typeface="Arial"/>
                <a:cs typeface="Arial"/>
              </a:defRPr>
            </a:defPPr>
          </a:lstStyle>
          <a:p xmlns:a="http://schemas.openxmlformats.org/drawingml/2006/main">
            <a:pPr>
              <a:defRPr sz="2250" b="1">
                <a:solidFill>
                  <a:srgbClr val="102C3D"/>
                </a:solidFill>
                <a:latin typeface="Arial"/>
                <a:ea typeface="Arial"/>
                <a:cs typeface="Arial"/>
              </a:defRPr>
            </a:pPr>
            <a:r>
              <a:rPr sz="2250" b="1">
                <a:solidFill>
                  <a:srgbClr val="102C3D"/>
                </a:solidFill>
                <a:latin typeface="Arial"/>
                <a:ea typeface="Arial"/>
                <a:cs typeface="Arial"/>
              </a:rPr>
              <a:t>Cada mes: pedidos reales, demanda no servida, VM y edad del stock</a:t>
            </a:r>
          </a:p>
        </p:txBody>
      </p:sp>
      <p:sp>
        <p:nvSpPr>
          <p:cNvPr id="7" name="">
            <a:extLst xmlns:a="http://schemas.openxmlformats.org/drawingml/2006/main">
              <a:ext uri="{FF2B5EF4-FFF2-40B4-BE49-F238E27FC236}">
                <a16:creationId xmlns:a16="http://schemas.microsoft.com/office/drawing/2014/main" id="{5C9B9989-7F50-41C8-A472-AFD667B6FC27}"/>
              </a:ext>
            </a:extLst>
          </p:cNvPr>
          <p:cNvSpPr>
            <a:spLocks xmlns:a="http://schemas.openxmlformats.org/drawingml/2006/main" noGrp="1"/>
          </p:cNvSpPr>
          <p:nvPr/>
        </p:nvSpPr>
        <p:spPr>
          <a:xfrm xmlns:a="http://schemas.openxmlformats.org/drawingml/2006/main">
            <a:off x="552450" y="41719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C3D"/>
                </a:solidFill>
                <a:latin typeface="Arial"/>
                <a:ea typeface="Arial"/>
                <a:cs typeface="Arial"/>
              </a:defRPr>
            </a:defPPr>
          </a:lstStyle>
          <a:p xmlns:a="http://schemas.openxmlformats.org/drawingml/2006/main">
            <a:pPr>
              <a:defRPr sz="2175" b="0">
                <a:solidFill>
                  <a:srgbClr val="102C3D"/>
                </a:solidFill>
                <a:latin typeface="Arial"/>
                <a:ea typeface="Arial"/>
                <a:cs typeface="Arial"/>
              </a:defRPr>
            </a:pPr>
            <a:r>
              <a:rPr sz="2175" b="0">
                <a:solidFill>
                  <a:srgbClr val="102C3D"/>
                </a:solidFill>
                <a:latin typeface="Arial"/>
                <a:ea typeface="Arial"/>
                <a:cs typeface="Arial"/>
              </a:rPr>
              <a:t>Recalcular si el error supera 15% dos meses o el stock &gt;90 días supera 20%</a:t>
            </a:r>
          </a:p>
        </p:txBody>
      </p:sp>
      <p:sp>
        <p:nvSpPr>
          <p:cNvPr id="8" name="">
            <a:extLst xmlns:a="http://schemas.openxmlformats.org/drawingml/2006/main">
              <a:ext uri="{FF2B5EF4-FFF2-40B4-BE49-F238E27FC236}">
                <a16:creationId xmlns:a16="http://schemas.microsoft.com/office/drawing/2014/main" id="{A6378C86-5B35-4DDD-9668-0F072ADFEC2A}"/>
              </a:ext>
            </a:extLst>
          </p:cNvPr>
          <p:cNvSpPr>
            <a:spLocks xmlns:a="http://schemas.openxmlformats.org/drawingml/2006/main" noGrp="1"/>
          </p:cNvSpPr>
          <p:nvPr/>
        </p:nvSpPr>
        <p:spPr>
          <a:xfrm xmlns:a="http://schemas.openxmlformats.org/drawingml/2006/main">
            <a:off x="552450" y="52292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C493F"/>
                </a:solidFill>
                <a:latin typeface="Arial"/>
                <a:ea typeface="Arial"/>
                <a:cs typeface="Arial"/>
              </a:defRPr>
            </a:defPPr>
          </a:lstStyle>
          <a:p xmlns:a="http://schemas.openxmlformats.org/drawingml/2006/main">
            <a:pPr>
              <a:defRPr sz="2250" b="1">
                <a:solidFill>
                  <a:srgbClr val="AC493F"/>
                </a:solidFill>
                <a:latin typeface="Arial"/>
                <a:ea typeface="Arial"/>
                <a:cs typeface="Arial"/>
              </a:defRPr>
            </a:pPr>
            <a:r>
              <a:rPr sz="2250" b="1">
                <a:solidFill>
                  <a:srgbClr val="AC493F"/>
                </a:solidFill>
                <a:latin typeface="Arial"/>
                <a:ea typeface="Arial"/>
                <a:cs typeface="Arial"/>
              </a:rPr>
              <a:t>Confirmar tránsito y CO2 antes de comprometer los nuevos pedidos</a:t>
            </a:r>
          </a:p>
        </p:txBody>
      </p:sp>
    </p:spTree>
    <p:extLst>
      <p:ext uri="{BB962C8B-B14F-4D97-AF65-F5344CB8AC3E}">
        <p14:creationId xmlns:p14="http://schemas.microsoft.com/office/powerpoint/2010/main" val="67742903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DE4C2D-2807-4DDE-BA1A-888091988401}"/>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Demanda anual por segmento y escenario</a:t>
            </a:r>
          </a:p>
        </p:txBody>
      </p:sp>
      <p:sp>
        <p:nvSpPr>
          <p:cNvPr id="2" name="">
            <a:extLst xmlns:a="http://schemas.openxmlformats.org/drawingml/2006/main">
              <a:ext uri="{FF2B5EF4-FFF2-40B4-BE49-F238E27FC236}">
                <a16:creationId xmlns:a16="http://schemas.microsoft.com/office/drawing/2014/main" id="{6064AE27-1805-4864-82A6-C17CC7CB2D78}"/>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Anexo de consulta</a:t>
            </a:r>
          </a:p>
        </p:txBody>
      </p:sp>
      <p:sp>
        <p:nvSpPr>
          <p:cNvPr id="3" name="">
            <a:extLst xmlns:a="http://schemas.openxmlformats.org/drawingml/2006/main">
              <a:ext uri="{FF2B5EF4-FFF2-40B4-BE49-F238E27FC236}">
                <a16:creationId xmlns:a16="http://schemas.microsoft.com/office/drawing/2014/main" id="{69E3C1C9-9DD8-4B0B-9B9D-02F359E8414B}"/>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241742DF-1F84-41E0-8BE9-DF2354437A6E}"/>
              </a:ext>
            </a:extLst>
          </p:cNvPr>
          <p:cNvGraphicFramePr/>
          <p:nvPr/>
        </p:nvGraphicFramePr>
        <p:xfrm>
          <a:off xmlns:a="http://schemas.openxmlformats.org/drawingml/2006/main" x="552450" y="1504950"/>
          <a:ext xmlns:a="http://schemas.openxmlformats.org/drawingml/2006/main" cx="11087100" cy="4229100"/>
        </p:xfrm>
        <a:graphic xmlns:a="http://schemas.openxmlformats.org/drawingml/2006/main">
          <a:graphicData uri="http://schemas.openxmlformats.org/drawingml/2006/table">
            <a:tbl>
              <a:tblPr/>
              <a:tblGrid>
                <a:gridCol w="1714500"/>
                <a:gridCol w="3124200"/>
                <a:gridCol w="3124200"/>
                <a:gridCol w="3124200"/>
              </a:tblGrid>
              <a:tr h="528638">
                <a:tc>
                  <a:txBody>
                    <a:bodyPr/>
                    <a:lstStyle/>
                    <a:p>
                      <a:r>
                        <a:rPr sz="1575" b="1">
                          <a:solidFill>
                            <a:srgbClr val="FFFFFF"/>
                          </a:solidFill>
                          <a:latin typeface="Arial"/>
                          <a:ea typeface="Arial"/>
                          <a:cs typeface="Arial"/>
                        </a:rPr>
                        <a:t>Segmento</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Pesimista</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Central</a:t>
                      </a:r>
                    </a:p>
                  </a:txBody>
                  <a:tcPr marL="85725" marR="85725" marT="28575" marB="28575" anchor="ctr">
                    <a:solidFill>
                      <a:srgbClr val="102C3D"/>
                    </a:solidFill>
                  </a:tcPr>
                </a:tc>
                <a:tc>
                  <a:txBody>
                    <a:bodyPr/>
                    <a:lstStyle/>
                    <a:p>
                      <a:r>
                        <a:rPr sz="1575" b="1">
                          <a:solidFill>
                            <a:srgbClr val="FFFFFF"/>
                          </a:solidFill>
                          <a:latin typeface="Arial"/>
                          <a:ea typeface="Arial"/>
                          <a:cs typeface="Arial"/>
                        </a:rPr>
                        <a:t>Optimista</a:t>
                      </a:r>
                    </a:p>
                  </a:txBody>
                  <a:tcPr marL="85725" marR="85725" marT="28575" marB="28575" anchor="ctr">
                    <a:solidFill>
                      <a:srgbClr val="102C3D"/>
                    </a:solidFill>
                  </a:tcPr>
                </a:tc>
              </a:tr>
              <a:tr h="528638">
                <a:tc>
                  <a:txBody>
                    <a:bodyPr/>
                    <a:lstStyle/>
                    <a:p>
                      <a:r>
                        <a:rPr sz="1575" b="0">
                          <a:solidFill>
                            <a:srgbClr val="102C3D"/>
                          </a:solidFill>
                          <a:latin typeface="Arial"/>
                          <a:ea typeface="Arial"/>
                          <a:cs typeface="Arial"/>
                        </a:rPr>
                        <a:t>B</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1461 (1239-1688)</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1651 (1400-1910)</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1937 (1645-2243)</a:t>
                      </a:r>
                    </a:p>
                  </a:txBody>
                  <a:tcPr marL="85725" marR="85725" marT="28575" marB="28575" anchor="ctr">
                    <a:solidFill>
                      <a:srgbClr val="FFFFFF"/>
                    </a:solidFill>
                  </a:tcPr>
                </a:tc>
              </a:tr>
              <a:tr h="528638">
                <a:tc>
                  <a:txBody>
                    <a:bodyPr/>
                    <a:lstStyle/>
                    <a:p>
                      <a:r>
                        <a:rPr sz="1575" b="0">
                          <a:solidFill>
                            <a:srgbClr val="102C3D"/>
                          </a:solidFill>
                          <a:latin typeface="Arial"/>
                          <a:ea typeface="Arial"/>
                          <a:cs typeface="Arial"/>
                        </a:rPr>
                        <a:t>C</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3335 (2171-4736)</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3680 (2393-5244)</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4211 (2734-5995)</a:t>
                      </a:r>
                    </a:p>
                  </a:txBody>
                  <a:tcPr marL="85725" marR="85725" marT="28575" marB="28575" anchor="ctr">
                    <a:solidFill>
                      <a:srgbClr val="EAF2F3"/>
                    </a:solidFill>
                  </a:tcPr>
                </a:tc>
              </a:tr>
              <a:tr h="528638">
                <a:tc>
                  <a:txBody>
                    <a:bodyPr/>
                    <a:lstStyle/>
                    <a:p>
                      <a:r>
                        <a:rPr sz="1575" b="0">
                          <a:solidFill>
                            <a:srgbClr val="102C3D"/>
                          </a:solidFill>
                          <a:latin typeface="Arial"/>
                          <a:ea typeface="Arial"/>
                          <a:cs typeface="Arial"/>
                        </a:rPr>
                        <a:t>MD</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385 (254-550)</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450 (300-647)</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498 (330-713)</a:t>
                      </a:r>
                    </a:p>
                  </a:txBody>
                  <a:tcPr marL="85725" marR="85725" marT="28575" marB="28575" anchor="ctr">
                    <a:solidFill>
                      <a:srgbClr val="FFFFFF"/>
                    </a:solidFill>
                  </a:tcPr>
                </a:tc>
              </a:tr>
              <a:tr h="528638">
                <a:tc>
                  <a:txBody>
                    <a:bodyPr/>
                    <a:lstStyle/>
                    <a:p>
                      <a:r>
                        <a:rPr sz="1575" b="0">
                          <a:solidFill>
                            <a:srgbClr val="102C3D"/>
                          </a:solidFill>
                          <a:latin typeface="Arial"/>
                          <a:ea typeface="Arial"/>
                          <a:cs typeface="Arial"/>
                        </a:rPr>
                        <a:t>SSUV</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5200 (4845-5535)</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6670 (6213-7103)</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9825 (9151-10.475)</a:t>
                      </a:r>
                    </a:p>
                  </a:txBody>
                  <a:tcPr marL="85725" marR="85725" marT="28575" marB="28575" anchor="ctr">
                    <a:solidFill>
                      <a:srgbClr val="EAF2F3"/>
                    </a:solidFill>
                  </a:tcPr>
                </a:tc>
              </a:tr>
              <a:tr h="528638">
                <a:tc>
                  <a:txBody>
                    <a:bodyPr/>
                    <a:lstStyle/>
                    <a:p>
                      <a:r>
                        <a:rPr sz="1575" b="0">
                          <a:solidFill>
                            <a:srgbClr val="102C3D"/>
                          </a:solidFill>
                          <a:latin typeface="Arial"/>
                          <a:ea typeface="Arial"/>
                          <a:cs typeface="Arial"/>
                        </a:rPr>
                        <a:t>CSUV</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2693 (2001-3554)</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3329 (2473-4410)</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4007 (2976-5281)</a:t>
                      </a:r>
                    </a:p>
                  </a:txBody>
                  <a:tcPr marL="85725" marR="85725" marT="28575" marB="28575" anchor="ctr">
                    <a:solidFill>
                      <a:srgbClr val="FFFFFF"/>
                    </a:solidFill>
                  </a:tcPr>
                </a:tc>
              </a:tr>
              <a:tr h="528638">
                <a:tc>
                  <a:txBody>
                    <a:bodyPr/>
                    <a:lstStyle/>
                    <a:p>
                      <a:r>
                        <a:rPr sz="1575" b="0">
                          <a:solidFill>
                            <a:srgbClr val="102C3D"/>
                          </a:solidFill>
                          <a:latin typeface="Arial"/>
                          <a:ea typeface="Arial"/>
                          <a:cs typeface="Arial"/>
                        </a:rPr>
                        <a:t>MSUV</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6206 (5150-7387)</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7335 (6086-8732)</a:t>
                      </a:r>
                    </a:p>
                  </a:txBody>
                  <a:tcPr marL="85725" marR="85725" marT="28575" marB="28575" anchor="ctr">
                    <a:solidFill>
                      <a:srgbClr val="EAF2F3"/>
                    </a:solidFill>
                  </a:tcPr>
                </a:tc>
                <a:tc>
                  <a:txBody>
                    <a:bodyPr/>
                    <a:lstStyle/>
                    <a:p>
                      <a:r>
                        <a:rPr sz="1575" b="0">
                          <a:solidFill>
                            <a:srgbClr val="102C3D"/>
                          </a:solidFill>
                          <a:latin typeface="Arial"/>
                          <a:ea typeface="Arial"/>
                          <a:cs typeface="Arial"/>
                        </a:rPr>
                        <a:t>8722 (7222-10.396)</a:t>
                      </a:r>
                    </a:p>
                  </a:txBody>
                  <a:tcPr marL="85725" marR="85725" marT="28575" marB="28575" anchor="ctr">
                    <a:solidFill>
                      <a:srgbClr val="EAF2F3"/>
                    </a:solidFill>
                  </a:tcPr>
                </a:tc>
              </a:tr>
              <a:tr h="528638">
                <a:tc>
                  <a:txBody>
                    <a:bodyPr/>
                    <a:lstStyle/>
                    <a:p>
                      <a:r>
                        <a:rPr sz="1575" b="0">
                          <a:solidFill>
                            <a:srgbClr val="102C3D"/>
                          </a:solidFill>
                          <a:latin typeface="Arial"/>
                          <a:ea typeface="Arial"/>
                          <a:cs typeface="Arial"/>
                        </a:rPr>
                        <a:t>S</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372 (323-428)</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534 (464-613)</a:t>
                      </a:r>
                    </a:p>
                  </a:txBody>
                  <a:tcPr marL="85725" marR="85725" marT="28575" marB="28575" anchor="ctr">
                    <a:solidFill>
                      <a:srgbClr val="FFFFFF"/>
                    </a:solidFill>
                  </a:tcPr>
                </a:tc>
                <a:tc>
                  <a:txBody>
                    <a:bodyPr/>
                    <a:lstStyle/>
                    <a:p>
                      <a:r>
                        <a:rPr sz="1575" b="0">
                          <a:solidFill>
                            <a:srgbClr val="102C3D"/>
                          </a:solidFill>
                          <a:latin typeface="Arial"/>
                          <a:ea typeface="Arial"/>
                          <a:cs typeface="Arial"/>
                        </a:rPr>
                        <a:t>674 (586-775)</a:t>
                      </a:r>
                    </a:p>
                  </a:txBody>
                  <a:tcPr marL="85725" marR="85725" marT="28575" marB="2857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B1933FB-C934-4100-BF30-48436C9BF599}"/>
              </a:ext>
            </a:extLst>
          </p:cNvPr>
          <p:cNvSpPr>
            <a:spLocks xmlns:a="http://schemas.openxmlformats.org/drawingml/2006/main" noGrp="1"/>
          </p:cNvSpPr>
          <p:nvPr/>
        </p:nvSpPr>
        <p:spPr>
          <a:xfrm xmlns:a="http://schemas.openxmlformats.org/drawingml/2006/main">
            <a:off x="552450" y="5905500"/>
            <a:ext cx="11087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4"/>
                </a:solidFill>
                <a:latin typeface="Arial"/>
                <a:ea typeface="Arial"/>
                <a:cs typeface="Arial"/>
              </a:defRPr>
            </a:defPPr>
          </a:lstStyle>
          <a:p xmlns:a="http://schemas.openxmlformats.org/drawingml/2006/main">
            <a:pPr>
              <a:defRPr sz="1575" b="0">
                <a:solidFill>
                  <a:srgbClr val="526674"/>
                </a:solidFill>
                <a:latin typeface="Arial"/>
                <a:ea typeface="Arial"/>
                <a:cs typeface="Arial"/>
              </a:defRPr>
            </a:pPr>
            <a:r>
              <a:rPr sz="1575" b="0">
                <a:solidFill>
                  <a:srgbClr val="526674"/>
                </a:solidFill>
                <a:latin typeface="Arial"/>
                <a:ea typeface="Arial"/>
                <a:cs typeface="Arial"/>
              </a:rPr>
              <a:t>Unidades. Media e intervalo P5-P95 entre paréntesis. Demanda potencial, no ventas.</a:t>
            </a:r>
          </a:p>
        </p:txBody>
      </p:sp>
    </p:spTree>
    <p:extLst>
      <p:ext uri="{BB962C8B-B14F-4D97-AF65-F5344CB8AC3E}">
        <p14:creationId xmlns:p14="http://schemas.microsoft.com/office/powerpoint/2010/main" val="134506066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163D83-9C9D-4A86-A5CE-4B22B13BE199}"/>
              </a:ext>
            </a:extLst>
          </p:cNvPr>
          <p:cNvSpPr>
            <a:spLocks xmlns:a="http://schemas.openxmlformats.org/drawingml/2006/main" noGrp="1"/>
          </p:cNvSpPr>
          <p:nvPr/>
        </p:nvSpPr>
        <p:spPr>
          <a:xfrm xmlns:a="http://schemas.openxmlformats.org/drawingml/2006/main">
            <a:off x="552450" y="409575"/>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C3D"/>
                </a:solidFill>
                <a:latin typeface="Arial"/>
                <a:ea typeface="Arial"/>
                <a:cs typeface="Arial"/>
              </a:defRPr>
            </a:defPPr>
          </a:lstStyle>
          <a:p xmlns:a="http://schemas.openxmlformats.org/drawingml/2006/main">
            <a:pPr>
              <a:defRPr sz="3150" b="1">
                <a:solidFill>
                  <a:srgbClr val="102C3D"/>
                </a:solidFill>
                <a:latin typeface="Arial"/>
                <a:ea typeface="Arial"/>
                <a:cs typeface="Arial"/>
              </a:defRPr>
            </a:pPr>
            <a:r>
              <a:rPr sz="3150" b="1">
                <a:solidFill>
                  <a:srgbClr val="102C3D"/>
                </a:solidFill>
                <a:latin typeface="Arial"/>
                <a:ea typeface="Arial"/>
                <a:cs typeface="Arial"/>
              </a:rPr>
              <a:t>Sensibilidad de los supuestos operativos</a:t>
            </a:r>
          </a:p>
        </p:txBody>
      </p:sp>
      <p:sp>
        <p:nvSpPr>
          <p:cNvPr id="2" name="">
            <a:extLst xmlns:a="http://schemas.openxmlformats.org/drawingml/2006/main">
              <a:ext uri="{FF2B5EF4-FFF2-40B4-BE49-F238E27FC236}">
                <a16:creationId xmlns:a16="http://schemas.microsoft.com/office/drawing/2014/main" id="{C798417D-4212-4382-A53A-CF52AA5A752E}"/>
              </a:ext>
            </a:extLst>
          </p:cNvPr>
          <p:cNvSpPr>
            <a:spLocks xmlns:a="http://schemas.openxmlformats.org/drawingml/2006/main" noGrp="1"/>
          </p:cNvSpPr>
          <p:nvPr/>
        </p:nvSpPr>
        <p:spPr>
          <a:xfrm xmlns:a="http://schemas.openxmlformats.org/drawingml/2006/main">
            <a:off x="552450" y="641032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Anexo de consulta</a:t>
            </a:r>
          </a:p>
        </p:txBody>
      </p:sp>
      <p:sp>
        <p:nvSpPr>
          <p:cNvPr id="3" name="">
            <a:extLst xmlns:a="http://schemas.openxmlformats.org/drawingml/2006/main">
              <a:ext uri="{FF2B5EF4-FFF2-40B4-BE49-F238E27FC236}">
                <a16:creationId xmlns:a16="http://schemas.microsoft.com/office/drawing/2014/main" id="{2ACCE8B5-8DE8-46C6-BDDB-CE8D19A3F6E3}"/>
              </a:ext>
            </a:extLst>
          </p:cNvPr>
          <p:cNvSpPr>
            <a:spLocks xmlns:a="http://schemas.openxmlformats.org/drawingml/2006/main" noGrp="1"/>
          </p:cNvSpPr>
          <p:nvPr/>
        </p:nvSpPr>
        <p:spPr>
          <a:xfrm xmlns:a="http://schemas.openxmlformats.org/drawingml/2006/main">
            <a:off x="11191875" y="641032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674"/>
                </a:solidFill>
                <a:latin typeface="Arial"/>
                <a:ea typeface="Arial"/>
                <a:cs typeface="Arial"/>
              </a:defRPr>
            </a:defPPr>
          </a:lstStyle>
          <a:p xmlns:a="http://schemas.openxmlformats.org/drawingml/2006/main">
            <a:pPr>
              <a:defRPr sz="1125" b="0">
                <a:solidFill>
                  <a:srgbClr val="526674"/>
                </a:solidFill>
                <a:latin typeface="Arial"/>
                <a:ea typeface="Arial"/>
                <a:cs typeface="Arial"/>
              </a:defRPr>
            </a:pPr>
            <a:r>
              <a:rPr sz="1125" b="0">
                <a:solidFill>
                  <a:srgbClr val="526674"/>
                </a:solidFill>
                <a:latin typeface="Arial"/>
                <a:ea typeface="Arial"/>
                <a:cs typeface="Arial"/>
              </a:rPr>
              <a:t>12</a:t>
            </a:r>
          </a:p>
        </p:txBody>
      </p:sp>
      <p:graphicFrame>
        <p:nvGraphicFramePr>
          <p:cNvPr id="4" name="">
            <a:extLst xmlns:a="http://schemas.openxmlformats.org/drawingml/2006/main">
              <a:ext uri="{FF2B5EF4-FFF2-40B4-BE49-F238E27FC236}">
                <a16:creationId xmlns:a16="http://schemas.microsoft.com/office/drawing/2014/main" id="{5F04BE37-99D0-49B3-9CA7-6D5DC053EFE6}"/>
              </a:ext>
            </a:extLst>
          </p:cNvPr>
          <p:cNvGraphicFramePr/>
          <p:nvPr/>
        </p:nvGraphicFramePr>
        <p:xfrm>
          <a:off xmlns:a="http://schemas.openxmlformats.org/drawingml/2006/main" x="552450" y="1562100"/>
          <a:ext xmlns:a="http://schemas.openxmlformats.org/drawingml/2006/main" cx="11087100" cy="3476625"/>
        </p:xfrm>
        <a:graphic xmlns:a="http://schemas.openxmlformats.org/drawingml/2006/main">
          <a:graphicData uri="http://schemas.openxmlformats.org/drawingml/2006/table">
            <a:tbl>
              <a:tblPr/>
              <a:tblGrid>
                <a:gridCol w="4762500"/>
                <a:gridCol w="3143250"/>
                <a:gridCol w="3181350"/>
              </a:tblGrid>
              <a:tr h="496661">
                <a:tc>
                  <a:txBody>
                    <a:bodyPr/>
                    <a:lstStyle/>
                    <a:p>
                      <a:r>
                        <a:rPr sz="1875" b="1">
                          <a:solidFill>
                            <a:srgbClr val="FFFFFF"/>
                          </a:solidFill>
                          <a:latin typeface="Arial"/>
                          <a:ea typeface="Arial"/>
                          <a:cs typeface="Arial"/>
                        </a:rPr>
                        <a:t>Prueba central</a:t>
                      </a:r>
                    </a:p>
                  </a:txBody>
                  <a:tcPr marL="85725" marR="85725" marT="28575" marB="28575" anchor="ctr">
                    <a:solidFill>
                      <a:srgbClr val="102C3D"/>
                    </a:solidFill>
                  </a:tcPr>
                </a:tc>
                <a:tc>
                  <a:txBody>
                    <a:bodyPr/>
                    <a:lstStyle/>
                    <a:p>
                      <a:r>
                        <a:rPr sz="1875" b="1">
                          <a:solidFill>
                            <a:srgbClr val="FFFFFF"/>
                          </a:solidFill>
                          <a:latin typeface="Arial"/>
                          <a:ea typeface="Arial"/>
                          <a:cs typeface="Arial"/>
                        </a:rPr>
                        <a:t>CVP neto (M€)</a:t>
                      </a:r>
                    </a:p>
                  </a:txBody>
                  <a:tcPr marL="85725" marR="85725" marT="28575" marB="28575" anchor="ctr">
                    <a:solidFill>
                      <a:srgbClr val="102C3D"/>
                    </a:solidFill>
                  </a:tcPr>
                </a:tc>
                <a:tc>
                  <a:txBody>
                    <a:bodyPr/>
                    <a:lstStyle/>
                    <a:p>
                      <a:r>
                        <a:rPr sz="1875" b="1">
                          <a:solidFill>
                            <a:srgbClr val="FFFFFF"/>
                          </a:solidFill>
                          <a:latin typeface="Arial"/>
                          <a:ea typeface="Arial"/>
                          <a:cs typeface="Arial"/>
                        </a:rPr>
                        <a:t>Ventas perdidas (u.)</a:t>
                      </a:r>
                    </a:p>
                  </a:txBody>
                  <a:tcPr marL="85725" marR="85725" marT="28575" marB="28575" anchor="ctr">
                    <a:solidFill>
                      <a:srgbClr val="102C3D"/>
                    </a:solidFill>
                  </a:tcPr>
                </a:tc>
              </a:tr>
              <a:tr h="496661">
                <a:tc>
                  <a:txBody>
                    <a:bodyPr/>
                    <a:lstStyle/>
                    <a:p>
                      <a:r>
                        <a:rPr sz="1875" b="0">
                          <a:solidFill>
                            <a:srgbClr val="102C3D"/>
                          </a:solidFill>
                          <a:latin typeface="Arial"/>
                          <a:ea typeface="Arial"/>
                          <a:cs typeface="Arial"/>
                        </a:rPr>
                        <a:t>Base</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79,88</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456</a:t>
                      </a:r>
                    </a:p>
                  </a:txBody>
                  <a:tcPr marL="85725" marR="85725" marT="28575" marB="28575" anchor="ctr">
                    <a:solidFill>
                      <a:srgbClr val="FFFFFF"/>
                    </a:solidFill>
                  </a:tcPr>
                </a:tc>
              </a:tr>
              <a:tr h="496661">
                <a:tc>
                  <a:txBody>
                    <a:bodyPr/>
                    <a:lstStyle/>
                    <a:p>
                      <a:r>
                        <a:rPr sz="1875" b="0">
                          <a:solidFill>
                            <a:srgbClr val="102C3D"/>
                          </a:solidFill>
                          <a:latin typeface="Arial"/>
                          <a:ea typeface="Arial"/>
                          <a:cs typeface="Arial"/>
                        </a:rPr>
                        <a:t>Tránsito -25%</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79,64</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627</a:t>
                      </a:r>
                    </a:p>
                  </a:txBody>
                  <a:tcPr marL="85725" marR="85725" marT="28575" marB="28575" anchor="ctr">
                    <a:solidFill>
                      <a:srgbClr val="EAF2F3"/>
                    </a:solidFill>
                  </a:tcPr>
                </a:tc>
              </a:tr>
              <a:tr h="496661">
                <a:tc>
                  <a:txBody>
                    <a:bodyPr/>
                    <a:lstStyle/>
                    <a:p>
                      <a:r>
                        <a:rPr sz="1875" b="0">
                          <a:solidFill>
                            <a:srgbClr val="102C3D"/>
                          </a:solidFill>
                          <a:latin typeface="Arial"/>
                          <a:ea typeface="Arial"/>
                          <a:cs typeface="Arial"/>
                        </a:rPr>
                        <a:t>Tránsito +25%</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79,70</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393</a:t>
                      </a:r>
                    </a:p>
                  </a:txBody>
                  <a:tcPr marL="85725" marR="85725" marT="28575" marB="28575" anchor="ctr">
                    <a:solidFill>
                      <a:srgbClr val="FFFFFF"/>
                    </a:solidFill>
                  </a:tcPr>
                </a:tc>
              </a:tr>
              <a:tr h="496661">
                <a:tc>
                  <a:txBody>
                    <a:bodyPr/>
                    <a:lstStyle/>
                    <a:p>
                      <a:r>
                        <a:rPr sz="1875" b="0">
                          <a:solidFill>
                            <a:srgbClr val="102C3D"/>
                          </a:solidFill>
                          <a:latin typeface="Arial"/>
                          <a:ea typeface="Arial"/>
                          <a:cs typeface="Arial"/>
                        </a:rPr>
                        <a:t>Sin transfers</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79,48</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633</a:t>
                      </a:r>
                    </a:p>
                  </a:txBody>
                  <a:tcPr marL="85725" marR="85725" marT="28575" marB="28575" anchor="ctr">
                    <a:solidFill>
                      <a:srgbClr val="EAF2F3"/>
                    </a:solidFill>
                  </a:tcPr>
                </a:tc>
              </a:tr>
              <a:tr h="496661">
                <a:tc>
                  <a:txBody>
                    <a:bodyPr/>
                    <a:lstStyle/>
                    <a:p>
                      <a:r>
                        <a:rPr sz="1875" b="0">
                          <a:solidFill>
                            <a:srgbClr val="102C3D"/>
                          </a:solidFill>
                          <a:latin typeface="Arial"/>
                          <a:ea typeface="Arial"/>
                          <a:cs typeface="Arial"/>
                        </a:rPr>
                        <a:t>Stock de seguridad -25%</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79,54</a:t>
                      </a:r>
                    </a:p>
                  </a:txBody>
                  <a:tcPr marL="85725" marR="85725" marT="28575" marB="28575" anchor="ctr">
                    <a:solidFill>
                      <a:srgbClr val="FFFFFF"/>
                    </a:solidFill>
                  </a:tcPr>
                </a:tc>
                <a:tc>
                  <a:txBody>
                    <a:bodyPr/>
                    <a:lstStyle/>
                    <a:p>
                      <a:r>
                        <a:rPr sz="1875" b="0">
                          <a:solidFill>
                            <a:srgbClr val="102C3D"/>
                          </a:solidFill>
                          <a:latin typeface="Arial"/>
                          <a:ea typeface="Arial"/>
                          <a:cs typeface="Arial"/>
                        </a:rPr>
                        <a:t>589</a:t>
                      </a:r>
                    </a:p>
                  </a:txBody>
                  <a:tcPr marL="85725" marR="85725" marT="28575" marB="28575" anchor="ctr">
                    <a:solidFill>
                      <a:srgbClr val="FFFFFF"/>
                    </a:solidFill>
                  </a:tcPr>
                </a:tc>
              </a:tr>
              <a:tr h="496661">
                <a:tc>
                  <a:txBody>
                    <a:bodyPr/>
                    <a:lstStyle/>
                    <a:p>
                      <a:r>
                        <a:rPr sz="1875" b="0">
                          <a:solidFill>
                            <a:srgbClr val="102C3D"/>
                          </a:solidFill>
                          <a:latin typeface="Arial"/>
                          <a:ea typeface="Arial"/>
                          <a:cs typeface="Arial"/>
                        </a:rPr>
                        <a:t>Stock de seguridad +25%</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79,97</a:t>
                      </a:r>
                    </a:p>
                  </a:txBody>
                  <a:tcPr marL="85725" marR="85725" marT="28575" marB="28575" anchor="ctr">
                    <a:solidFill>
                      <a:srgbClr val="EAF2F3"/>
                    </a:solidFill>
                  </a:tcPr>
                </a:tc>
                <a:tc>
                  <a:txBody>
                    <a:bodyPr/>
                    <a:lstStyle/>
                    <a:p>
                      <a:r>
                        <a:rPr sz="1875" b="0">
                          <a:solidFill>
                            <a:srgbClr val="102C3D"/>
                          </a:solidFill>
                          <a:latin typeface="Arial"/>
                          <a:ea typeface="Arial"/>
                          <a:cs typeface="Arial"/>
                        </a:rPr>
                        <a:t>374</a:t>
                      </a:r>
                    </a:p>
                  </a:txBody>
                  <a:tcPr marL="85725" marR="85725" marT="28575" marB="28575" anchor="ctr">
                    <a:solidFill>
                      <a:srgbClr val="EAF2F3"/>
                    </a:solidFill>
                  </a:tcPr>
                </a:tc>
              </a:tr>
            </a:tbl>
          </a:graphicData>
        </a:graphic>
      </p:graphicFrame>
      <p:sp>
        <p:nvSpPr>
          <p:cNvPr id="5" name="">
            <a:extLst xmlns:a="http://schemas.openxmlformats.org/drawingml/2006/main">
              <a:ext uri="{FF2B5EF4-FFF2-40B4-BE49-F238E27FC236}">
                <a16:creationId xmlns:a16="http://schemas.microsoft.com/office/drawing/2014/main" id="{7695B8BD-ECAA-441A-9306-494E38AA4BB6}"/>
              </a:ext>
            </a:extLst>
          </p:cNvPr>
          <p:cNvSpPr>
            <a:spLocks xmlns:a="http://schemas.openxmlformats.org/drawingml/2006/main" noGrp="1"/>
          </p:cNvSpPr>
          <p:nvPr/>
        </p:nvSpPr>
        <p:spPr>
          <a:xfrm xmlns:a="http://schemas.openxmlformats.org/drawingml/2006/main">
            <a:off x="552450" y="55816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4"/>
                </a:solidFill>
                <a:latin typeface="Arial"/>
                <a:ea typeface="Arial"/>
                <a:cs typeface="Arial"/>
              </a:defRPr>
            </a:defPPr>
          </a:lstStyle>
          <a:p xmlns:a="http://schemas.openxmlformats.org/drawingml/2006/main">
            <a:pPr>
              <a:defRPr sz="1800" b="0">
                <a:solidFill>
                  <a:srgbClr val="526674"/>
                </a:solidFill>
                <a:latin typeface="Arial"/>
                <a:ea typeface="Arial"/>
                <a:cs typeface="Arial"/>
              </a:defRPr>
            </a:pPr>
            <a:r>
              <a:rPr sz="1800" b="0">
                <a:solidFill>
                  <a:srgbClr val="526674"/>
                </a:solidFill>
                <a:latin typeface="Arial"/>
                <a:ea typeface="Arial"/>
                <a:cs typeface="Arial"/>
              </a:rPr>
              <a:t>No se presupone capacidad máxima de fábrica. Falta confirmación del tránsito real.</a:t>
            </a:r>
          </a:p>
        </p:txBody>
      </p:sp>
    </p:spTree>
    <p:extLst>
      <p:ext uri="{BB962C8B-B14F-4D97-AF65-F5344CB8AC3E}">
        <p14:creationId xmlns:p14="http://schemas.microsoft.com/office/powerpoint/2010/main" val="8188560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2026-10-08T21:54:02.6040000Z</dcterms:created>
  <dcterms:modified xsi:type="dcterms:W3CDTF">2026-10-08T21:54:02.6040000Z</dcterms:modified>
</coreProperties>
</file>